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61" r:id="rId7"/>
    <p:sldId id="262" r:id="rId8"/>
    <p:sldId id="264" r:id="rId9"/>
    <p:sldId id="265" r:id="rId10"/>
    <p:sldId id="266" r:id="rId11"/>
    <p:sldId id="267" r:id="rId12"/>
    <p:sldId id="26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7" autoAdjust="0"/>
    <p:restoredTop sz="94660"/>
  </p:normalViewPr>
  <p:slideViewPr>
    <p:cSldViewPr snapToGrid="0">
      <p:cViewPr>
        <p:scale>
          <a:sx n="125" d="100"/>
          <a:sy n="125" d="100"/>
        </p:scale>
        <p:origin x="45"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278294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31405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25353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2272256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1177101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1251401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337246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677880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140116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388336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0CC967F-DC02-4DC2-91A6-E1D3BBE6CD19}" type="datetimeFigureOut">
              <a:rPr lang="zh-CN" altLang="en-US" smtClean="0"/>
              <a:t>2024/5/7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3039229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CC967F-DC02-4DC2-91A6-E1D3BBE6CD19}" type="datetimeFigureOut">
              <a:rPr lang="zh-CN" altLang="en-US" smtClean="0"/>
              <a:t>2024/5/7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E26540-408B-4D76-8CCB-2D87C72F26EF}" type="slidenum">
              <a:rPr lang="zh-CN" altLang="en-US" smtClean="0"/>
              <a:t>‹#›</a:t>
            </a:fld>
            <a:endParaRPr lang="zh-CN" altLang="en-US"/>
          </a:p>
        </p:txBody>
      </p:sp>
    </p:spTree>
    <p:extLst>
      <p:ext uri="{BB962C8B-B14F-4D97-AF65-F5344CB8AC3E}">
        <p14:creationId xmlns:p14="http://schemas.microsoft.com/office/powerpoint/2010/main" val="3761537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7.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6wcs6szJWMY" TargetMode="External"/><Relationship Id="rId2" Type="http://schemas.openxmlformats.org/officeDocument/2006/relationships/hyperlink" Target="https://machinelearningmastery.com/how-to-visualize-filters-and-feature-maps-in-convolutional-neural-network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03282" y="1203927"/>
            <a:ext cx="9823192" cy="2387600"/>
          </a:xfrm>
        </p:spPr>
        <p:txBody>
          <a:bodyPr/>
          <a:lstStyle/>
          <a:p>
            <a:r>
              <a:rPr lang="en-US" altLang="zh-CN" dirty="0" err="1" smtClean="0">
                <a:latin typeface="Consolas" panose="020B0609020204030204" pitchFamily="49" charset="0"/>
              </a:rPr>
              <a:t>LeNet</a:t>
            </a:r>
            <a:r>
              <a:rPr lang="en-US" altLang="zh-CN" dirty="0" smtClean="0"/>
              <a:t>-</a:t>
            </a:r>
            <a:r>
              <a:rPr lang="zh-CN" altLang="en-US" dirty="0" smtClean="0">
                <a:latin typeface="微软雅黑" panose="020B0503020204020204" pitchFamily="34" charset="-122"/>
                <a:ea typeface="微软雅黑" panose="020B0503020204020204" pitchFamily="34" charset="-122"/>
              </a:rPr>
              <a:t>手写数字识别可视化</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5229533" y="4687614"/>
            <a:ext cx="1970689" cy="369332"/>
          </a:xfrm>
          <a:prstGeom prst="rect">
            <a:avLst/>
          </a:prstGeom>
          <a:noFill/>
        </p:spPr>
        <p:txBody>
          <a:bodyPr wrap="square" rtlCol="0">
            <a:spAutoFit/>
          </a:bodyPr>
          <a:lstStyle/>
          <a:p>
            <a:r>
              <a:rPr lang="zh-CN" altLang="en-US" dirty="0" smtClean="0">
                <a:latin typeface="Adobe Pi Std" panose="05020102010706070708" pitchFamily="82" charset="0"/>
              </a:rPr>
              <a:t>黄奕可  胡峻豪</a:t>
            </a:r>
            <a:endParaRPr lang="zh-CN" altLang="en-US" dirty="0">
              <a:latin typeface="Adobe Pi Std" panose="05020102010706070708" pitchFamily="82" charset="0"/>
            </a:endParaRPr>
          </a:p>
        </p:txBody>
      </p:sp>
    </p:spTree>
    <p:extLst>
      <p:ext uri="{BB962C8B-B14F-4D97-AF65-F5344CB8AC3E}">
        <p14:creationId xmlns:p14="http://schemas.microsoft.com/office/powerpoint/2010/main" val="337849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2640094"/>
            <a:ext cx="10515600" cy="1325563"/>
          </a:xfrm>
        </p:spPr>
        <p:txBody>
          <a:bodyPr/>
          <a:lstStyle/>
          <a:p>
            <a:r>
              <a:rPr lang="en-US" altLang="zh-CN" dirty="0" smtClean="0">
                <a:latin typeface="微软雅黑" panose="020B0503020204020204" pitchFamily="34" charset="-122"/>
                <a:ea typeface="微软雅黑" panose="020B0503020204020204" pitchFamily="34" charset="-122"/>
              </a:rPr>
              <a:t>-CONTENTS</a:t>
            </a:r>
            <a:endParaRPr lang="zh-CN" altLang="en-US"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flipH="1">
            <a:off x="4629807" y="804040"/>
            <a:ext cx="42041" cy="499766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9" name="组合 8"/>
          <p:cNvGrpSpPr/>
          <p:nvPr/>
        </p:nvGrpSpPr>
        <p:grpSpPr>
          <a:xfrm>
            <a:off x="4621923" y="1069007"/>
            <a:ext cx="2561898" cy="369332"/>
            <a:chOff x="4621923" y="871623"/>
            <a:chExt cx="2561898" cy="369332"/>
          </a:xfrm>
        </p:grpSpPr>
        <p:sp>
          <p:nvSpPr>
            <p:cNvPr id="6" name="椭圆 5"/>
            <p:cNvSpPr/>
            <p:nvPr/>
          </p:nvSpPr>
          <p:spPr>
            <a:xfrm>
              <a:off x="4621923" y="1003737"/>
              <a:ext cx="99849" cy="105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文本框 7"/>
            <p:cNvSpPr txBox="1"/>
            <p:nvPr/>
          </p:nvSpPr>
          <p:spPr>
            <a:xfrm>
              <a:off x="4897821" y="871623"/>
              <a:ext cx="2286000"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数据集简介</a:t>
              </a:r>
              <a:endParaRPr lang="zh-CN" altLang="en-US" dirty="0">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4621923" y="1571192"/>
            <a:ext cx="3418490" cy="369332"/>
            <a:chOff x="4621923" y="871623"/>
            <a:chExt cx="3418490" cy="369332"/>
          </a:xfrm>
        </p:grpSpPr>
        <p:sp>
          <p:nvSpPr>
            <p:cNvPr id="11" name="椭圆 10"/>
            <p:cNvSpPr/>
            <p:nvPr/>
          </p:nvSpPr>
          <p:spPr>
            <a:xfrm>
              <a:off x="4621923" y="1003737"/>
              <a:ext cx="99849" cy="105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文本框 11"/>
            <p:cNvSpPr txBox="1"/>
            <p:nvPr/>
          </p:nvSpPr>
          <p:spPr>
            <a:xfrm>
              <a:off x="4897820" y="871623"/>
              <a:ext cx="3142593"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2.LeNet</a:t>
              </a:r>
              <a:r>
                <a:rPr lang="zh-CN" altLang="en-US" dirty="0" smtClean="0">
                  <a:latin typeface="微软雅黑" panose="020B0503020204020204" pitchFamily="34" charset="-122"/>
                  <a:ea typeface="微软雅黑" panose="020B0503020204020204" pitchFamily="34" charset="-122"/>
                </a:rPr>
                <a:t>对手写数字识别结果</a:t>
              </a:r>
              <a:endParaRPr lang="zh-CN" altLang="en-US" dirty="0">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621923" y="2218209"/>
            <a:ext cx="3681248" cy="646331"/>
            <a:chOff x="4621923" y="871623"/>
            <a:chExt cx="3681248" cy="646331"/>
          </a:xfrm>
        </p:grpSpPr>
        <p:sp>
          <p:nvSpPr>
            <p:cNvPr id="14" name="椭圆 13"/>
            <p:cNvSpPr/>
            <p:nvPr/>
          </p:nvSpPr>
          <p:spPr>
            <a:xfrm>
              <a:off x="4621923" y="1003737"/>
              <a:ext cx="99849" cy="105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 name="文本框 14"/>
            <p:cNvSpPr txBox="1"/>
            <p:nvPr/>
          </p:nvSpPr>
          <p:spPr>
            <a:xfrm>
              <a:off x="4897820" y="871623"/>
              <a:ext cx="3405351" cy="646331"/>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3.LeNet</a:t>
              </a:r>
              <a:r>
                <a:rPr lang="zh-CN" altLang="en-US" dirty="0" smtClean="0">
                  <a:latin typeface="微软雅黑" panose="020B0503020204020204" pitchFamily="34" charset="-122"/>
                  <a:ea typeface="微软雅黑" panose="020B0503020204020204" pitchFamily="34" charset="-122"/>
                </a:rPr>
                <a:t>模型架构可视化</a:t>
              </a:r>
            </a:p>
            <a:p>
              <a:endParaRPr lang="zh-CN" altLang="en-US"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4621923" y="2772208"/>
            <a:ext cx="4059622" cy="369332"/>
            <a:chOff x="4621923" y="871623"/>
            <a:chExt cx="4059622" cy="369332"/>
          </a:xfrm>
        </p:grpSpPr>
        <p:sp>
          <p:nvSpPr>
            <p:cNvPr id="17" name="椭圆 16"/>
            <p:cNvSpPr/>
            <p:nvPr/>
          </p:nvSpPr>
          <p:spPr>
            <a:xfrm>
              <a:off x="4621923" y="1003737"/>
              <a:ext cx="99849" cy="105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文本框 17"/>
            <p:cNvSpPr txBox="1"/>
            <p:nvPr/>
          </p:nvSpPr>
          <p:spPr>
            <a:xfrm>
              <a:off x="4897820" y="871623"/>
              <a:ext cx="3783725"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4.</a:t>
              </a:r>
              <a:r>
                <a:rPr lang="zh-CN" altLang="en-US" dirty="0" smtClean="0">
                  <a:latin typeface="微软雅黑" panose="020B0503020204020204" pitchFamily="34" charset="-122"/>
                  <a:ea typeface="微软雅黑" panose="020B0503020204020204" pitchFamily="34" charset="-122"/>
                </a:rPr>
                <a:t>对</a:t>
              </a:r>
              <a:r>
                <a:rPr lang="en-US" altLang="zh-CN" dirty="0" err="1" smtClean="0">
                  <a:latin typeface="微软雅黑" panose="020B0503020204020204" pitchFamily="34" charset="-122"/>
                  <a:ea typeface="微软雅黑" panose="020B0503020204020204" pitchFamily="34" charset="-122"/>
                </a:rPr>
                <a:t>LeNet</a:t>
              </a:r>
              <a:r>
                <a:rPr lang="zh-CN" altLang="en-US" dirty="0" smtClean="0">
                  <a:latin typeface="微软雅黑" panose="020B0503020204020204" pitchFamily="34" charset="-122"/>
                  <a:ea typeface="微软雅黑" panose="020B0503020204020204" pitchFamily="34" charset="-122"/>
                </a:rPr>
                <a:t>中的滤波器进行可视化</a:t>
              </a:r>
              <a:endParaRPr lang="zh-CN" altLang="en-US" dirty="0">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621923" y="3273654"/>
            <a:ext cx="4059622" cy="369332"/>
            <a:chOff x="4621923" y="871623"/>
            <a:chExt cx="4059622" cy="369332"/>
          </a:xfrm>
        </p:grpSpPr>
        <p:sp>
          <p:nvSpPr>
            <p:cNvPr id="20" name="椭圆 19"/>
            <p:cNvSpPr/>
            <p:nvPr/>
          </p:nvSpPr>
          <p:spPr>
            <a:xfrm>
              <a:off x="4621923" y="1003737"/>
              <a:ext cx="99849" cy="105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文本框 20"/>
            <p:cNvSpPr txBox="1"/>
            <p:nvPr/>
          </p:nvSpPr>
          <p:spPr>
            <a:xfrm>
              <a:off x="4897820" y="871623"/>
              <a:ext cx="378372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5</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对</a:t>
              </a:r>
              <a:r>
                <a:rPr lang="en-US" altLang="zh-CN" dirty="0" err="1" smtClean="0">
                  <a:latin typeface="微软雅黑" panose="020B0503020204020204" pitchFamily="34" charset="-122"/>
                  <a:ea typeface="微软雅黑" panose="020B0503020204020204" pitchFamily="34" charset="-122"/>
                </a:rPr>
                <a:t>LeNet</a:t>
              </a:r>
              <a:r>
                <a:rPr lang="zh-CN" altLang="en-US" dirty="0" smtClean="0">
                  <a:latin typeface="微软雅黑" panose="020B0503020204020204" pitchFamily="34" charset="-122"/>
                  <a:ea typeface="微软雅黑" panose="020B0503020204020204" pitchFamily="34" charset="-122"/>
                </a:rPr>
                <a:t>中的特征图进行可视化</a:t>
              </a:r>
              <a:endParaRPr lang="zh-CN" altLang="en-US" dirty="0">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4621923" y="3780991"/>
            <a:ext cx="4926725" cy="369332"/>
            <a:chOff x="4621923" y="871623"/>
            <a:chExt cx="4926725" cy="369332"/>
          </a:xfrm>
        </p:grpSpPr>
        <p:sp>
          <p:nvSpPr>
            <p:cNvPr id="23" name="椭圆 22"/>
            <p:cNvSpPr/>
            <p:nvPr/>
          </p:nvSpPr>
          <p:spPr>
            <a:xfrm>
              <a:off x="4621923" y="1003737"/>
              <a:ext cx="99849" cy="10510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4" name="文本框 23"/>
            <p:cNvSpPr txBox="1"/>
            <p:nvPr/>
          </p:nvSpPr>
          <p:spPr>
            <a:xfrm>
              <a:off x="4897820" y="871623"/>
              <a:ext cx="4650828"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6.</a:t>
              </a:r>
              <a:r>
                <a:rPr lang="zh-CN" altLang="en-US" dirty="0" smtClean="0">
                  <a:latin typeface="微软雅黑" panose="020B0503020204020204" pitchFamily="34" charset="-122"/>
                  <a:ea typeface="微软雅黑" panose="020B0503020204020204" pitchFamily="34" charset="-122"/>
                </a:rPr>
                <a:t>不同激活函数和卷积核大小的可视化效果</a:t>
              </a:r>
              <a:endParaRPr lang="zh-CN" altLang="en-US"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0189504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4691" y="2387135"/>
            <a:ext cx="5875171" cy="3449159"/>
          </a:xfrm>
          <a:prstGeom prst="rect">
            <a:avLst/>
          </a:prstGeom>
        </p:spPr>
      </p:pic>
      <p:sp>
        <p:nvSpPr>
          <p:cNvPr id="5" name="标题 4"/>
          <p:cNvSpPr>
            <a:spLocks noGrp="1"/>
          </p:cNvSpPr>
          <p:nvPr>
            <p:ph type="title"/>
          </p:nvPr>
        </p:nvSpPr>
        <p:spPr>
          <a:xfrm>
            <a:off x="291662" y="0"/>
            <a:ext cx="10515600" cy="1325563"/>
          </a:xfrm>
        </p:spPr>
        <p:txBody>
          <a:bodyPr>
            <a:normAutofit/>
          </a:bodyPr>
          <a:lstStyle/>
          <a:p>
            <a:r>
              <a:rPr lang="en-US" altLang="zh-CN" sz="3200" dirty="0" smtClean="0">
                <a:latin typeface="Consolas" panose="020B0609020204030204" pitchFamily="49" charset="0"/>
              </a:rPr>
              <a:t>1.MNIST</a:t>
            </a:r>
            <a:r>
              <a:rPr lang="zh-CN" altLang="en-US" sz="3200" dirty="0" smtClean="0">
                <a:latin typeface="微软雅黑" panose="020B0503020204020204" pitchFamily="34" charset="-122"/>
                <a:ea typeface="微软雅黑" panose="020B0503020204020204" pitchFamily="34" charset="-122"/>
              </a:rPr>
              <a:t>数据集简介</a:t>
            </a:r>
            <a:endParaRPr lang="zh-CN" altLang="en-US" sz="3200" dirty="0">
              <a:latin typeface="微软雅黑" panose="020B0503020204020204" pitchFamily="34" charset="-122"/>
              <a:ea typeface="微软雅黑" panose="020B0503020204020204" pitchFamily="34" charset="-122"/>
            </a:endParaRPr>
          </a:p>
        </p:txBody>
      </p:sp>
      <p:sp>
        <p:nvSpPr>
          <p:cNvPr id="8" name="矩形 7"/>
          <p:cNvSpPr/>
          <p:nvPr/>
        </p:nvSpPr>
        <p:spPr>
          <a:xfrm>
            <a:off x="704192" y="1061572"/>
            <a:ext cx="11130455" cy="646331"/>
          </a:xfrm>
          <a:prstGeom prst="rect">
            <a:avLst/>
          </a:prstGeom>
        </p:spPr>
        <p:txBody>
          <a:bodyPr wrap="square">
            <a:spAutoFit/>
          </a:bodyPr>
          <a:lstStyle/>
          <a:p>
            <a:r>
              <a:rPr lang="en-US" altLang="zh-CN" dirty="0" smtClean="0">
                <a:latin typeface="Consolas" panose="020B0609020204030204" pitchFamily="49" charset="0"/>
              </a:rPr>
              <a:t>MNIST</a:t>
            </a:r>
            <a:r>
              <a:rPr lang="zh-CN" altLang="en-US" dirty="0" smtClean="0">
                <a:latin typeface="Consolas" panose="020B0609020204030204" pitchFamily="49" charset="0"/>
              </a:rPr>
              <a:t>数据库是一个大型手写数字数据库</a:t>
            </a:r>
            <a:r>
              <a:rPr lang="en-US" altLang="zh-CN" dirty="0" smtClean="0">
                <a:latin typeface="Consolas" panose="020B0609020204030204" pitchFamily="49" charset="0"/>
              </a:rPr>
              <a:t>,</a:t>
            </a:r>
            <a:r>
              <a:rPr lang="zh-CN" altLang="en-US" dirty="0">
                <a:latin typeface="Consolas" panose="020B0609020204030204" pitchFamily="49" charset="0"/>
              </a:rPr>
              <a:t> </a:t>
            </a:r>
            <a:r>
              <a:rPr lang="en-US" altLang="zh-CN" dirty="0">
                <a:latin typeface="Consolas" panose="020B0609020204030204" pitchFamily="49" charset="0"/>
              </a:rPr>
              <a:t>MNIST </a:t>
            </a:r>
            <a:r>
              <a:rPr lang="zh-CN" altLang="en-US" dirty="0">
                <a:latin typeface="Consolas" panose="020B0609020204030204" pitchFamily="49" charset="0"/>
              </a:rPr>
              <a:t>数据库包含 </a:t>
            </a:r>
            <a:r>
              <a:rPr lang="en-US" altLang="zh-CN" dirty="0">
                <a:latin typeface="Consolas" panose="020B0609020204030204" pitchFamily="49" charset="0"/>
              </a:rPr>
              <a:t>60,000 </a:t>
            </a:r>
            <a:r>
              <a:rPr lang="zh-CN" altLang="en-US" dirty="0">
                <a:latin typeface="Consolas" panose="020B0609020204030204" pitchFamily="49" charset="0"/>
              </a:rPr>
              <a:t>张训练图像和 </a:t>
            </a:r>
            <a:r>
              <a:rPr lang="en-US" altLang="zh-CN" dirty="0">
                <a:latin typeface="Consolas" panose="020B0609020204030204" pitchFamily="49" charset="0"/>
              </a:rPr>
              <a:t>10,000 </a:t>
            </a:r>
            <a:r>
              <a:rPr lang="zh-CN" altLang="en-US" dirty="0">
                <a:latin typeface="Consolas" panose="020B0609020204030204" pitchFamily="49" charset="0"/>
              </a:rPr>
              <a:t>张测试</a:t>
            </a:r>
            <a:r>
              <a:rPr lang="zh-CN" altLang="en-US" dirty="0" smtClean="0">
                <a:latin typeface="Consolas" panose="020B0609020204030204" pitchFamily="49" charset="0"/>
              </a:rPr>
              <a:t>图像</a:t>
            </a:r>
            <a:endParaRPr lang="en-US" altLang="zh-CN" dirty="0" smtClean="0">
              <a:latin typeface="Consolas" panose="020B0609020204030204" pitchFamily="49" charset="0"/>
            </a:endParaRPr>
          </a:p>
          <a:p>
            <a:r>
              <a:rPr lang="zh-CN" altLang="en-US" dirty="0" smtClean="0">
                <a:latin typeface="Consolas" panose="020B0609020204030204" pitchFamily="49" charset="0"/>
              </a:rPr>
              <a:t>其中每张图像均为</a:t>
            </a:r>
            <a:r>
              <a:rPr lang="en-US" altLang="zh-CN" dirty="0" smtClean="0">
                <a:latin typeface="Consolas" panose="020B0609020204030204" pitchFamily="49" charset="0"/>
              </a:rPr>
              <a:t>(28,28)</a:t>
            </a:r>
            <a:r>
              <a:rPr lang="zh-CN" altLang="en-US" dirty="0" smtClean="0">
                <a:latin typeface="Consolas" panose="020B0609020204030204" pitchFamily="49" charset="0"/>
              </a:rPr>
              <a:t>的灰度图像</a:t>
            </a:r>
            <a:r>
              <a:rPr lang="en-US" altLang="zh-CN" dirty="0" smtClean="0">
                <a:latin typeface="Consolas" panose="020B0609020204030204" pitchFamily="49" charset="0"/>
              </a:rPr>
              <a:t>,</a:t>
            </a:r>
            <a:r>
              <a:rPr lang="zh-CN" altLang="en-US" dirty="0" smtClean="0">
                <a:latin typeface="Consolas" panose="020B0609020204030204" pitchFamily="49" charset="0"/>
              </a:rPr>
              <a:t>且手写数字居中显示</a:t>
            </a:r>
            <a:endParaRPr lang="zh-CN" altLang="en-US" dirty="0">
              <a:latin typeface="Consolas" panose="020B0609020204030204" pitchFamily="49" charset="0"/>
            </a:endParaRPr>
          </a:p>
        </p:txBody>
      </p:sp>
      <p:sp>
        <p:nvSpPr>
          <p:cNvPr id="10" name="文本框 9"/>
          <p:cNvSpPr txBox="1"/>
          <p:nvPr/>
        </p:nvSpPr>
        <p:spPr>
          <a:xfrm>
            <a:off x="4939860" y="6117021"/>
            <a:ext cx="2659118" cy="338554"/>
          </a:xfrm>
          <a:prstGeom prst="rect">
            <a:avLst/>
          </a:prstGeom>
          <a:noFill/>
        </p:spPr>
        <p:txBody>
          <a:bodyPr wrap="square" rtlCol="0">
            <a:spAutoFit/>
          </a:bodyPr>
          <a:lstStyle/>
          <a:p>
            <a:r>
              <a:rPr lang="en-US" altLang="zh-CN" sz="1600" dirty="0" smtClean="0">
                <a:latin typeface="Times New Roman" panose="02020603050405020304" pitchFamily="18" charset="0"/>
                <a:cs typeface="Times New Roman" panose="02020603050405020304" pitchFamily="18" charset="0"/>
              </a:rPr>
              <a:t>Figure1 MNIST</a:t>
            </a:r>
            <a:r>
              <a:rPr lang="zh-CN" altLang="en-US" sz="1600" dirty="0" smtClean="0">
                <a:latin typeface="Times New Roman" panose="02020603050405020304" pitchFamily="18" charset="0"/>
                <a:cs typeface="Times New Roman" panose="02020603050405020304" pitchFamily="18" charset="0"/>
              </a:rPr>
              <a:t>样例图</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8723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945" y="0"/>
            <a:ext cx="10515600" cy="1325563"/>
          </a:xfrm>
        </p:spPr>
        <p:txBody>
          <a:bodyPr>
            <a:normAutofit/>
          </a:bodyPr>
          <a:lstStyle/>
          <a:p>
            <a:r>
              <a:rPr lang="en-US" altLang="zh-CN" sz="3200" dirty="0" smtClean="0">
                <a:latin typeface="微软雅黑" panose="020B0503020204020204" pitchFamily="34" charset="-122"/>
                <a:ea typeface="微软雅黑" panose="020B0503020204020204" pitchFamily="34" charset="-122"/>
              </a:rPr>
              <a:t>2.LeNet</a:t>
            </a:r>
            <a:r>
              <a:rPr lang="zh-CN" altLang="en-US" sz="3200" dirty="0" smtClean="0">
                <a:latin typeface="微软雅黑" panose="020B0503020204020204" pitchFamily="34" charset="-122"/>
                <a:ea typeface="微软雅黑" panose="020B0503020204020204" pitchFamily="34" charset="-122"/>
              </a:rPr>
              <a:t>对手写数字的识别结果</a:t>
            </a:r>
            <a:endParaRPr lang="zh-CN" altLang="en-US" sz="3200"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rotWithShape="1">
          <a:blip r:embed="rId4">
            <a:extLst>
              <a:ext uri="{28A0092B-C50C-407E-A947-70E740481C1C}">
                <a14:useLocalDpi xmlns:a14="http://schemas.microsoft.com/office/drawing/2010/main" val="0"/>
              </a:ext>
            </a:extLst>
          </a:blip>
          <a:srcRect l="3523" t="5724" r="8178"/>
          <a:stretch/>
        </p:blipFill>
        <p:spPr>
          <a:xfrm>
            <a:off x="3320268" y="941345"/>
            <a:ext cx="4503206" cy="3846393"/>
          </a:xfrm>
          <a:prstGeom prst="rect">
            <a:avLst/>
          </a:prstGeom>
        </p:spPr>
      </p:pic>
      <p:pic>
        <p:nvPicPr>
          <p:cNvPr id="10" name="图片 9"/>
          <p:cNvPicPr>
            <a:picLocks noChangeAspect="1"/>
          </p:cNvPicPr>
          <p:nvPr/>
        </p:nvPicPr>
        <p:blipFill rotWithShape="1">
          <a:blip r:embed="rId5">
            <a:extLst>
              <a:ext uri="{28A0092B-C50C-407E-A947-70E740481C1C}">
                <a14:useLocalDpi xmlns:a14="http://schemas.microsoft.com/office/drawing/2010/main" val="0"/>
              </a:ext>
            </a:extLst>
          </a:blip>
          <a:srcRect r="49945"/>
          <a:stretch/>
        </p:blipFill>
        <p:spPr>
          <a:xfrm>
            <a:off x="506205" y="953611"/>
            <a:ext cx="2877657" cy="1916329"/>
          </a:xfrm>
          <a:prstGeom prst="rect">
            <a:avLst/>
          </a:prstGeom>
        </p:spPr>
      </p:pic>
      <p:sp>
        <p:nvSpPr>
          <p:cNvPr id="11" name="文本框 10"/>
          <p:cNvSpPr txBox="1"/>
          <p:nvPr/>
        </p:nvSpPr>
        <p:spPr>
          <a:xfrm>
            <a:off x="835924" y="4787738"/>
            <a:ext cx="3342289"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Figure2 loss</a:t>
            </a:r>
            <a:r>
              <a:rPr lang="zh-CN" altLang="en-US" sz="1600" dirty="0">
                <a:latin typeface="Times New Roman" panose="02020603050405020304" pitchFamily="18" charset="0"/>
                <a:cs typeface="Times New Roman" panose="02020603050405020304" pitchFamily="18" charset="0"/>
              </a:rPr>
              <a:t>与</a:t>
            </a:r>
            <a:r>
              <a:rPr lang="en-US" altLang="zh-CN" sz="1600" dirty="0">
                <a:latin typeface="Times New Roman" panose="02020603050405020304" pitchFamily="18" charset="0"/>
                <a:cs typeface="Times New Roman" panose="02020603050405020304" pitchFamily="18" charset="0"/>
              </a:rPr>
              <a:t>accuracy</a:t>
            </a:r>
            <a:r>
              <a:rPr lang="zh-CN" altLang="en-US" sz="1600" dirty="0">
                <a:latin typeface="Times New Roman" panose="02020603050405020304" pitchFamily="18" charset="0"/>
                <a:cs typeface="Times New Roman" panose="02020603050405020304" pitchFamily="18" charset="0"/>
              </a:rPr>
              <a:t>曲线</a:t>
            </a:r>
          </a:p>
        </p:txBody>
      </p:sp>
      <p:sp>
        <p:nvSpPr>
          <p:cNvPr id="12" name="文本框 11"/>
          <p:cNvSpPr txBox="1"/>
          <p:nvPr/>
        </p:nvSpPr>
        <p:spPr>
          <a:xfrm>
            <a:off x="4252542" y="4800004"/>
            <a:ext cx="3342289" cy="33855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Figure3 </a:t>
            </a:r>
            <a:r>
              <a:rPr lang="zh-CN" altLang="en-US" sz="1600" dirty="0">
                <a:latin typeface="Times New Roman" panose="02020603050405020304" pitchFamily="18" charset="0"/>
                <a:cs typeface="Times New Roman" panose="02020603050405020304" pitchFamily="18" charset="0"/>
              </a:rPr>
              <a:t>混淆矩阵</a:t>
            </a:r>
          </a:p>
        </p:txBody>
      </p:sp>
      <p:sp>
        <p:nvSpPr>
          <p:cNvPr id="13" name="文本框 12"/>
          <p:cNvSpPr txBox="1"/>
          <p:nvPr/>
        </p:nvSpPr>
        <p:spPr>
          <a:xfrm>
            <a:off x="1660748" y="5612502"/>
            <a:ext cx="4804498" cy="646331"/>
          </a:xfrm>
          <a:prstGeom prst="rect">
            <a:avLst/>
          </a:prstGeom>
          <a:noFill/>
        </p:spPr>
        <p:txBody>
          <a:bodyPr wrap="square" rtlCol="0">
            <a:spAutoFit/>
          </a:bodyPr>
          <a:lstStyle/>
          <a:p>
            <a:r>
              <a:rPr lang="zh-CN" altLang="en-US" dirty="0">
                <a:latin typeface="Consolas" panose="020B0609020204030204" pitchFamily="49" charset="0"/>
              </a:rPr>
              <a:t>在</a:t>
            </a:r>
            <a:r>
              <a:rPr lang="en-US" altLang="zh-CN" dirty="0">
                <a:latin typeface="Consolas" panose="020B0609020204030204" pitchFamily="49" charset="0"/>
              </a:rPr>
              <a:t>25</a:t>
            </a:r>
            <a:r>
              <a:rPr lang="zh-CN" altLang="en-US" dirty="0">
                <a:latin typeface="Consolas" panose="020B0609020204030204" pitchFamily="49" charset="0"/>
              </a:rPr>
              <a:t>轮训练后，</a:t>
            </a:r>
            <a:r>
              <a:rPr lang="en-US" altLang="zh-CN" dirty="0" err="1">
                <a:latin typeface="Consolas" panose="020B0609020204030204" pitchFamily="49" charset="0"/>
              </a:rPr>
              <a:t>LeNet</a:t>
            </a:r>
            <a:r>
              <a:rPr lang="zh-CN" altLang="en-US" dirty="0" smtClean="0">
                <a:latin typeface="Consolas" panose="020B0609020204030204" pitchFamily="49" charset="0"/>
              </a:rPr>
              <a:t>在</a:t>
            </a:r>
            <a:r>
              <a:rPr lang="zh-CN" altLang="en-US" dirty="0">
                <a:latin typeface="Consolas" panose="020B0609020204030204" pitchFamily="49" charset="0"/>
              </a:rPr>
              <a:t>测试集</a:t>
            </a:r>
            <a:r>
              <a:rPr lang="zh-CN" altLang="en-US" dirty="0" smtClean="0">
                <a:latin typeface="Consolas" panose="020B0609020204030204" pitchFamily="49" charset="0"/>
              </a:rPr>
              <a:t>上</a:t>
            </a:r>
            <a:r>
              <a:rPr lang="zh-CN" altLang="en-US" dirty="0">
                <a:latin typeface="Consolas" panose="020B0609020204030204" pitchFamily="49" charset="0"/>
              </a:rPr>
              <a:t>的准确率达到了</a:t>
            </a:r>
            <a:r>
              <a:rPr lang="en-US" altLang="zh-CN" dirty="0">
                <a:latin typeface="Consolas" panose="020B0609020204030204" pitchFamily="49" charset="0"/>
              </a:rPr>
              <a:t>98.58</a:t>
            </a:r>
            <a:r>
              <a:rPr lang="en-US" altLang="zh-CN" dirty="0" smtClean="0">
                <a:latin typeface="Consolas" panose="020B0609020204030204" pitchFamily="49" charset="0"/>
              </a:rPr>
              <a:t>%, </a:t>
            </a:r>
            <a:r>
              <a:rPr lang="zh-CN" altLang="en-US" dirty="0" smtClean="0">
                <a:latin typeface="Consolas" panose="020B0609020204030204" pitchFamily="49" charset="0"/>
              </a:rPr>
              <a:t>误差为</a:t>
            </a:r>
            <a:r>
              <a:rPr lang="en-US" altLang="zh-CN" dirty="0" smtClean="0">
                <a:latin typeface="Consolas" panose="020B0609020204030204" pitchFamily="49" charset="0"/>
              </a:rPr>
              <a:t>0.057</a:t>
            </a:r>
            <a:endParaRPr lang="zh-CN" altLang="en-US" dirty="0">
              <a:latin typeface="Consolas" panose="020B0609020204030204" pitchFamily="49" charset="0"/>
            </a:endParaRPr>
          </a:p>
        </p:txBody>
      </p:sp>
      <p:pic>
        <p:nvPicPr>
          <p:cNvPr id="8" name="图片 7"/>
          <p:cNvPicPr>
            <a:picLocks noChangeAspect="1"/>
          </p:cNvPicPr>
          <p:nvPr/>
        </p:nvPicPr>
        <p:blipFill rotWithShape="1">
          <a:blip r:embed="rId5">
            <a:extLst>
              <a:ext uri="{28A0092B-C50C-407E-A947-70E740481C1C}">
                <a14:useLocalDpi xmlns:a14="http://schemas.microsoft.com/office/drawing/2010/main" val="0"/>
              </a:ext>
            </a:extLst>
          </a:blip>
          <a:srcRect l="50286"/>
          <a:stretch/>
        </p:blipFill>
        <p:spPr>
          <a:xfrm>
            <a:off x="567609" y="2807144"/>
            <a:ext cx="2858059" cy="1916329"/>
          </a:xfrm>
          <a:prstGeom prst="rect">
            <a:avLst/>
          </a:prstGeom>
        </p:spPr>
      </p:pic>
      <p:pic>
        <p:nvPicPr>
          <p:cNvPr id="3" name="perfor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533485" y="333867"/>
            <a:ext cx="2362167" cy="6032883"/>
          </a:xfrm>
          <a:prstGeom prst="rect">
            <a:avLst/>
          </a:prstGeom>
        </p:spPr>
      </p:pic>
    </p:spTree>
    <p:extLst>
      <p:ext uri="{BB962C8B-B14F-4D97-AF65-F5344CB8AC3E}">
        <p14:creationId xmlns:p14="http://schemas.microsoft.com/office/powerpoint/2010/main" val="38235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0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945" y="0"/>
            <a:ext cx="10515600" cy="1325563"/>
          </a:xfrm>
        </p:spPr>
        <p:txBody>
          <a:bodyPr>
            <a:normAutofit/>
          </a:bodyPr>
          <a:lstStyle/>
          <a:p>
            <a:r>
              <a:rPr lang="en-US" altLang="zh-CN" sz="3200" dirty="0">
                <a:latin typeface="微软雅黑" panose="020B0503020204020204" pitchFamily="34" charset="-122"/>
                <a:ea typeface="微软雅黑" panose="020B0503020204020204" pitchFamily="34" charset="-122"/>
              </a:rPr>
              <a:t>3</a:t>
            </a:r>
            <a:r>
              <a:rPr lang="en-US" altLang="zh-CN" sz="3200" dirty="0" smtClean="0">
                <a:latin typeface="微软雅黑" panose="020B0503020204020204" pitchFamily="34" charset="-122"/>
                <a:ea typeface="微软雅黑" panose="020B0503020204020204" pitchFamily="34" charset="-122"/>
              </a:rPr>
              <a:t>.LeNet</a:t>
            </a:r>
            <a:r>
              <a:rPr lang="zh-CN" altLang="en-US" sz="3200" dirty="0">
                <a:latin typeface="微软雅黑" panose="020B0503020204020204" pitchFamily="34" charset="-122"/>
                <a:ea typeface="微软雅黑" panose="020B0503020204020204" pitchFamily="34" charset="-122"/>
              </a:rPr>
              <a:t>模型架构可视化</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185" y="1748393"/>
            <a:ext cx="6705600" cy="2533542"/>
          </a:xfrm>
          <a:prstGeom prst="rect">
            <a:avLst/>
          </a:prstGeom>
        </p:spPr>
      </p:pic>
      <p:sp>
        <p:nvSpPr>
          <p:cNvPr id="7" name="文本框 6"/>
          <p:cNvSpPr txBox="1"/>
          <p:nvPr/>
        </p:nvSpPr>
        <p:spPr>
          <a:xfrm>
            <a:off x="189185" y="987973"/>
            <a:ext cx="11619188" cy="923330"/>
          </a:xfrm>
          <a:prstGeom prst="rect">
            <a:avLst/>
          </a:prstGeom>
          <a:noFill/>
        </p:spPr>
        <p:txBody>
          <a:bodyPr wrap="square" rtlCol="0">
            <a:spAutoFit/>
          </a:bodyPr>
          <a:lstStyle/>
          <a:p>
            <a:r>
              <a:rPr lang="en-US" altLang="zh-CN" dirty="0" err="1">
                <a:latin typeface="Consolas" panose="020B0609020204030204" pitchFamily="49" charset="0"/>
              </a:rPr>
              <a:t>LeNet</a:t>
            </a:r>
            <a:r>
              <a:rPr lang="zh-CN" altLang="en-US" dirty="0">
                <a:latin typeface="Consolas" panose="020B0609020204030204" pitchFamily="49" charset="0"/>
              </a:rPr>
              <a:t>是由</a:t>
            </a:r>
            <a:r>
              <a:rPr lang="en-US" altLang="zh-CN" dirty="0">
                <a:latin typeface="Consolas" panose="020B0609020204030204" pitchFamily="49" charset="0"/>
              </a:rPr>
              <a:t>Yann </a:t>
            </a:r>
            <a:r>
              <a:rPr lang="en-US" altLang="zh-CN" dirty="0" err="1">
                <a:latin typeface="Consolas" panose="020B0609020204030204" pitchFamily="49" charset="0"/>
              </a:rPr>
              <a:t>LeCun</a:t>
            </a:r>
            <a:r>
              <a:rPr lang="zh-CN" altLang="en-US" dirty="0">
                <a:latin typeface="Consolas" panose="020B0609020204030204" pitchFamily="49" charset="0"/>
              </a:rPr>
              <a:t>等人在</a:t>
            </a:r>
            <a:r>
              <a:rPr lang="en-US" altLang="zh-CN" dirty="0">
                <a:latin typeface="Consolas" panose="020B0609020204030204" pitchFamily="49" charset="0"/>
              </a:rPr>
              <a:t>1998</a:t>
            </a:r>
            <a:r>
              <a:rPr lang="zh-CN" altLang="en-US" dirty="0">
                <a:latin typeface="Consolas" panose="020B0609020204030204" pitchFamily="49" charset="0"/>
              </a:rPr>
              <a:t>年提出的第一个成功应用于数字识别的卷积神经网络（</a:t>
            </a:r>
            <a:r>
              <a:rPr lang="en-US" altLang="zh-CN" dirty="0">
                <a:latin typeface="Consolas" panose="020B0609020204030204" pitchFamily="49" charset="0"/>
              </a:rPr>
              <a:t>CNN</a:t>
            </a:r>
            <a:r>
              <a:rPr lang="zh-CN" altLang="en-US" dirty="0">
                <a:latin typeface="Consolas" panose="020B0609020204030204" pitchFamily="49" charset="0"/>
              </a:rPr>
              <a:t>）之一。它主要用于手写数字识别任务，是深度学习在计算机视觉领域的重要里程碑之一。</a:t>
            </a:r>
            <a:r>
              <a:rPr lang="en-US" altLang="zh-CN" dirty="0" err="1">
                <a:latin typeface="Consolas" panose="020B0609020204030204" pitchFamily="49" charset="0"/>
              </a:rPr>
              <a:t>LeNet</a:t>
            </a:r>
            <a:r>
              <a:rPr lang="zh-CN" altLang="en-US" dirty="0">
                <a:latin typeface="Consolas" panose="020B0609020204030204" pitchFamily="49" charset="0"/>
              </a:rPr>
              <a:t>网络结构包含了卷积层、池化层和全连接层，总共有</a:t>
            </a:r>
            <a:r>
              <a:rPr lang="en-US" altLang="zh-CN" dirty="0">
                <a:latin typeface="Consolas" panose="020B0609020204030204" pitchFamily="49" charset="0"/>
              </a:rPr>
              <a:t>7</a:t>
            </a:r>
            <a:r>
              <a:rPr lang="zh-CN" altLang="en-US" dirty="0">
                <a:latin typeface="Consolas" panose="020B0609020204030204" pitchFamily="49" charset="0"/>
              </a:rPr>
              <a:t>层</a:t>
            </a:r>
          </a:p>
        </p:txBody>
      </p:sp>
      <p:sp>
        <p:nvSpPr>
          <p:cNvPr id="8" name="文本框 7"/>
          <p:cNvSpPr txBox="1"/>
          <p:nvPr/>
        </p:nvSpPr>
        <p:spPr>
          <a:xfrm>
            <a:off x="1692165" y="3844286"/>
            <a:ext cx="3584027" cy="338554"/>
          </a:xfrm>
          <a:prstGeom prst="rect">
            <a:avLst/>
          </a:prstGeom>
          <a:noFill/>
        </p:spPr>
        <p:txBody>
          <a:bodyPr wrap="square" rtlCol="0">
            <a:spAutoFit/>
          </a:bodyPr>
          <a:lstStyle/>
          <a:p>
            <a:r>
              <a:rPr lang="en-US" altLang="zh-CN" sz="1600" dirty="0" smtClean="0">
                <a:latin typeface="Times New Roman" panose="02020603050405020304" pitchFamily="18" charset="0"/>
                <a:cs typeface="Times New Roman" panose="02020603050405020304" pitchFamily="18" charset="0"/>
              </a:rPr>
              <a:t>Figure4 </a:t>
            </a:r>
            <a:r>
              <a:rPr lang="en-US" altLang="zh-CN" sz="1600" dirty="0" err="1">
                <a:latin typeface="Times New Roman" panose="02020603050405020304" pitchFamily="18" charset="0"/>
                <a:cs typeface="Times New Roman" panose="02020603050405020304" pitchFamily="18" charset="0"/>
              </a:rPr>
              <a:t>LeNet</a:t>
            </a:r>
            <a:r>
              <a:rPr lang="zh-CN" altLang="en-US" sz="1600" dirty="0">
                <a:latin typeface="Times New Roman" panose="02020603050405020304" pitchFamily="18" charset="0"/>
                <a:cs typeface="Times New Roman" panose="02020603050405020304" pitchFamily="18" charset="0"/>
              </a:rPr>
              <a:t>网络结构图</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8985" y="1795463"/>
            <a:ext cx="1777559" cy="4288088"/>
          </a:xfrm>
          <a:prstGeom prst="rect">
            <a:avLst/>
          </a:prstGeom>
        </p:spPr>
      </p:pic>
      <p:sp>
        <p:nvSpPr>
          <p:cNvPr id="9" name="矩形 8"/>
          <p:cNvSpPr/>
          <p:nvPr/>
        </p:nvSpPr>
        <p:spPr>
          <a:xfrm>
            <a:off x="5320903" y="3532584"/>
            <a:ext cx="145256" cy="100013"/>
          </a:xfrm>
          <a:prstGeom prst="rect">
            <a:avLst/>
          </a:prstGeom>
          <a:solidFill>
            <a:schemeClr val="bg1"/>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10" name="文本框 9"/>
          <p:cNvSpPr txBox="1"/>
          <p:nvPr/>
        </p:nvSpPr>
        <p:spPr>
          <a:xfrm>
            <a:off x="5237956" y="3490257"/>
            <a:ext cx="353616" cy="184666"/>
          </a:xfrm>
          <a:prstGeom prst="rect">
            <a:avLst/>
          </a:prstGeom>
          <a:noFill/>
        </p:spPr>
        <p:txBody>
          <a:bodyPr wrap="square" rtlCol="0">
            <a:spAutoFit/>
          </a:bodyPr>
          <a:lstStyle/>
          <a:p>
            <a:r>
              <a:rPr lang="en-US" altLang="zh-CN" sz="600" b="1" dirty="0" smtClean="0"/>
              <a:t>4×4</a:t>
            </a:r>
            <a:endParaRPr lang="zh-CN" altLang="en-US" sz="600" b="1" dirty="0"/>
          </a:p>
        </p:txBody>
      </p:sp>
      <p:sp>
        <p:nvSpPr>
          <p:cNvPr id="11" name="文本框 10"/>
          <p:cNvSpPr txBox="1"/>
          <p:nvPr/>
        </p:nvSpPr>
        <p:spPr>
          <a:xfrm>
            <a:off x="7092840" y="6154098"/>
            <a:ext cx="3584027" cy="338554"/>
          </a:xfrm>
          <a:prstGeom prst="rect">
            <a:avLst/>
          </a:prstGeom>
          <a:noFill/>
        </p:spPr>
        <p:txBody>
          <a:bodyPr wrap="square" rtlCol="0">
            <a:spAutoFit/>
          </a:bodyPr>
          <a:lstStyle/>
          <a:p>
            <a:r>
              <a:rPr lang="en-US" altLang="zh-CN" sz="1600" dirty="0" smtClean="0">
                <a:latin typeface="Times New Roman" panose="02020603050405020304" pitchFamily="18" charset="0"/>
                <a:cs typeface="Times New Roman" panose="02020603050405020304" pitchFamily="18" charset="0"/>
              </a:rPr>
              <a:t>Figure5 </a:t>
            </a:r>
            <a:r>
              <a:rPr lang="en-US" altLang="zh-CN" sz="1600" dirty="0" err="1">
                <a:latin typeface="Times New Roman" panose="02020603050405020304" pitchFamily="18" charset="0"/>
                <a:cs typeface="Times New Roman" panose="02020603050405020304" pitchFamily="18" charset="0"/>
              </a:rPr>
              <a:t>LeNet</a:t>
            </a:r>
            <a:r>
              <a:rPr lang="zh-CN" altLang="en-US" sz="1600" dirty="0" smtClean="0">
                <a:latin typeface="Times New Roman" panose="02020603050405020304" pitchFamily="18" charset="0"/>
                <a:cs typeface="Times New Roman" panose="02020603050405020304" pitchFamily="18" charset="0"/>
              </a:rPr>
              <a:t>网络架构</a:t>
            </a:r>
            <a:endParaRPr lang="zh-CN" altLang="en-US" sz="1600" dirty="0">
              <a:latin typeface="Times New Roman" panose="02020603050405020304" pitchFamily="18" charset="0"/>
              <a:cs typeface="Times New Roman" panose="02020603050405020304" pitchFamily="18" charset="0"/>
            </a:endParaRPr>
          </a:p>
        </p:txBody>
      </p:sp>
      <p:sp>
        <p:nvSpPr>
          <p:cNvPr id="22" name="矩形 21"/>
          <p:cNvSpPr/>
          <p:nvPr/>
        </p:nvSpPr>
        <p:spPr>
          <a:xfrm>
            <a:off x="4471988" y="3582590"/>
            <a:ext cx="290512" cy="923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4425553" y="3535146"/>
            <a:ext cx="895350" cy="200055"/>
          </a:xfrm>
          <a:prstGeom prst="rect">
            <a:avLst/>
          </a:prstGeom>
          <a:noFill/>
        </p:spPr>
        <p:txBody>
          <a:bodyPr wrap="square" rtlCol="0">
            <a:spAutoFit/>
          </a:bodyPr>
          <a:lstStyle/>
          <a:p>
            <a:r>
              <a:rPr lang="en-US" altLang="zh-CN" sz="700" b="1" dirty="0" smtClean="0"/>
              <a:t>8 × 8</a:t>
            </a:r>
            <a:endParaRPr lang="zh-CN" altLang="en-US" sz="700" b="1" dirty="0"/>
          </a:p>
        </p:txBody>
      </p:sp>
      <p:sp>
        <p:nvSpPr>
          <p:cNvPr id="24" name="矩形 23"/>
          <p:cNvSpPr/>
          <p:nvPr/>
        </p:nvSpPr>
        <p:spPr>
          <a:xfrm>
            <a:off x="1939925" y="3582590"/>
            <a:ext cx="311150" cy="923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1893938" y="3532584"/>
            <a:ext cx="895350" cy="200055"/>
          </a:xfrm>
          <a:prstGeom prst="rect">
            <a:avLst/>
          </a:prstGeom>
          <a:noFill/>
        </p:spPr>
        <p:txBody>
          <a:bodyPr wrap="square" rtlCol="0">
            <a:spAutoFit/>
          </a:bodyPr>
          <a:lstStyle/>
          <a:p>
            <a:r>
              <a:rPr lang="en-US" altLang="zh-CN" sz="700" b="1" dirty="0" smtClean="0"/>
              <a:t>24 × 24</a:t>
            </a:r>
            <a:endParaRPr lang="zh-CN" altLang="en-US" sz="700" b="1" dirty="0"/>
          </a:p>
        </p:txBody>
      </p:sp>
      <p:sp>
        <p:nvSpPr>
          <p:cNvPr id="27" name="矩形 26"/>
          <p:cNvSpPr/>
          <p:nvPr/>
        </p:nvSpPr>
        <p:spPr>
          <a:xfrm>
            <a:off x="3159745" y="3346933"/>
            <a:ext cx="324433" cy="1009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3094310" y="3311659"/>
            <a:ext cx="895350" cy="200055"/>
          </a:xfrm>
          <a:prstGeom prst="rect">
            <a:avLst/>
          </a:prstGeom>
          <a:noFill/>
        </p:spPr>
        <p:txBody>
          <a:bodyPr wrap="square" rtlCol="0">
            <a:spAutoFit/>
          </a:bodyPr>
          <a:lstStyle/>
          <a:p>
            <a:r>
              <a:rPr lang="en-US" altLang="zh-CN" sz="700" b="1" dirty="0" smtClean="0"/>
              <a:t>12 × 12</a:t>
            </a:r>
            <a:endParaRPr lang="zh-CN" altLang="en-US" sz="700" b="1" dirty="0"/>
          </a:p>
        </p:txBody>
      </p:sp>
    </p:spTree>
    <p:extLst>
      <p:ext uri="{BB962C8B-B14F-4D97-AF65-F5344CB8AC3E}">
        <p14:creationId xmlns:p14="http://schemas.microsoft.com/office/powerpoint/2010/main" val="12099234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945" y="0"/>
            <a:ext cx="10515600" cy="1325563"/>
          </a:xfrm>
        </p:spPr>
        <p:txBody>
          <a:bodyPr>
            <a:normAutofit/>
          </a:bodyPr>
          <a:lstStyle/>
          <a:p>
            <a:r>
              <a:rPr lang="en-US" altLang="zh-CN" sz="3200" dirty="0" smtClean="0">
                <a:latin typeface="微软雅黑" panose="020B0503020204020204" pitchFamily="34" charset="-122"/>
                <a:ea typeface="微软雅黑" panose="020B0503020204020204" pitchFamily="34" charset="-122"/>
              </a:rPr>
              <a:t>4.</a:t>
            </a:r>
            <a:r>
              <a:rPr lang="zh-CN" altLang="en-US" sz="3200" dirty="0" smtClean="0">
                <a:latin typeface="微软雅黑" panose="020B0503020204020204" pitchFamily="34" charset="-122"/>
                <a:ea typeface="微软雅黑" panose="020B0503020204020204" pitchFamily="34" charset="-122"/>
              </a:rPr>
              <a:t>对</a:t>
            </a:r>
            <a:r>
              <a:rPr lang="en-US" altLang="zh-CN" sz="3200" dirty="0" err="1" smtClean="0">
                <a:latin typeface="微软雅黑" panose="020B0503020204020204" pitchFamily="34" charset="-122"/>
                <a:ea typeface="微软雅黑" panose="020B0503020204020204" pitchFamily="34" charset="-122"/>
              </a:rPr>
              <a:t>LeNet</a:t>
            </a:r>
            <a:r>
              <a:rPr lang="zh-CN" altLang="en-US" sz="3200" dirty="0" smtClean="0">
                <a:latin typeface="微软雅黑" panose="020B0503020204020204" pitchFamily="34" charset="-122"/>
                <a:ea typeface="微软雅黑" panose="020B0503020204020204" pitchFamily="34" charset="-122"/>
              </a:rPr>
              <a:t>中的滤波器进行可视化</a:t>
            </a:r>
            <a:endParaRPr lang="zh-CN" altLang="en-US" sz="32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5483" y="662781"/>
            <a:ext cx="10070131" cy="3804745"/>
          </a:xfrm>
          <a:prstGeom prst="rect">
            <a:avLst/>
          </a:prstGeom>
        </p:spPr>
      </p:pic>
      <p:cxnSp>
        <p:nvCxnSpPr>
          <p:cNvPr id="4" name="直接箭头连接符 3"/>
          <p:cNvCxnSpPr/>
          <p:nvPr/>
        </p:nvCxnSpPr>
        <p:spPr>
          <a:xfrm>
            <a:off x="2165131" y="2811517"/>
            <a:ext cx="1606769" cy="188748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16" name="组合 15"/>
          <p:cNvGrpSpPr/>
          <p:nvPr/>
        </p:nvGrpSpPr>
        <p:grpSpPr>
          <a:xfrm>
            <a:off x="3839122" y="4699000"/>
            <a:ext cx="3172591" cy="820053"/>
            <a:chOff x="4056993" y="4399209"/>
            <a:chExt cx="4512608" cy="1060916"/>
          </a:xfrm>
        </p:grpSpPr>
        <p:sp>
          <p:nvSpPr>
            <p:cNvPr id="14" name="矩形 13"/>
            <p:cNvSpPr/>
            <p:nvPr/>
          </p:nvSpPr>
          <p:spPr>
            <a:xfrm>
              <a:off x="4230413" y="4399209"/>
              <a:ext cx="940676" cy="919026"/>
            </a:xfrm>
            <a:prstGeom prst="rect">
              <a:avLst/>
            </a:prstGeom>
            <a:solidFill>
              <a:schemeClr val="accent1"/>
            </a:solidFill>
            <a:ln>
              <a:solidFill>
                <a:schemeClr val="tx1">
                  <a:lumMod val="85000"/>
                  <a:lumOff val="1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矩形 12"/>
            <p:cNvSpPr/>
            <p:nvPr/>
          </p:nvSpPr>
          <p:spPr>
            <a:xfrm>
              <a:off x="4152081" y="4467526"/>
              <a:ext cx="940676" cy="919026"/>
            </a:xfrm>
            <a:prstGeom prst="rect">
              <a:avLst/>
            </a:prstGeom>
            <a:solidFill>
              <a:schemeClr val="accent1"/>
            </a:solidFill>
            <a:ln>
              <a:solidFill>
                <a:schemeClr val="tx1">
                  <a:lumMod val="85000"/>
                  <a:lumOff val="1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8"/>
            <p:cNvSpPr/>
            <p:nvPr/>
          </p:nvSpPr>
          <p:spPr>
            <a:xfrm>
              <a:off x="4056993" y="4541099"/>
              <a:ext cx="940676" cy="919026"/>
            </a:xfrm>
            <a:prstGeom prst="rect">
              <a:avLst/>
            </a:prstGeom>
            <a:solidFill>
              <a:schemeClr val="accent1"/>
            </a:solidFill>
            <a:ln>
              <a:solidFill>
                <a:schemeClr val="tx1">
                  <a:lumMod val="85000"/>
                  <a:lumOff val="1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文本框 14"/>
            <p:cNvSpPr txBox="1"/>
            <p:nvPr/>
          </p:nvSpPr>
          <p:spPr>
            <a:xfrm>
              <a:off x="5221870" y="4742372"/>
              <a:ext cx="3347731" cy="398176"/>
            </a:xfrm>
            <a:prstGeom prst="rect">
              <a:avLst/>
            </a:prstGeom>
            <a:noFill/>
          </p:spPr>
          <p:txBody>
            <a:bodyPr wrap="square" rtlCol="0">
              <a:spAutoFit/>
            </a:bodyPr>
            <a:lstStyle/>
            <a:p>
              <a:r>
                <a:rPr lang="en-US" altLang="zh-CN" sz="1400" dirty="0">
                  <a:latin typeface="Consolas" panose="020B0609020204030204" pitchFamily="49" charset="0"/>
                </a:rPr>
                <a:t>6</a:t>
              </a:r>
              <a:r>
                <a:rPr lang="zh-CN" altLang="en-US" sz="1400" dirty="0">
                  <a:latin typeface="Consolas" panose="020B0609020204030204" pitchFamily="49" charset="0"/>
                </a:rPr>
                <a:t>个大小为</a:t>
              </a:r>
              <a:r>
                <a:rPr lang="en-US" altLang="zh-CN" sz="1400" dirty="0">
                  <a:latin typeface="Consolas" panose="020B0609020204030204" pitchFamily="49" charset="0"/>
                </a:rPr>
                <a:t>(5,5)</a:t>
              </a:r>
              <a:r>
                <a:rPr lang="zh-CN" altLang="en-US" sz="1400" dirty="0">
                  <a:latin typeface="Consolas" panose="020B0609020204030204" pitchFamily="49" charset="0"/>
                </a:rPr>
                <a:t>的卷积核</a:t>
              </a:r>
            </a:p>
          </p:txBody>
        </p:sp>
      </p:grpSp>
      <p:cxnSp>
        <p:nvCxnSpPr>
          <p:cNvPr id="19" name="直接箭头连接符 18"/>
          <p:cNvCxnSpPr/>
          <p:nvPr/>
        </p:nvCxnSpPr>
        <p:spPr>
          <a:xfrm>
            <a:off x="7823200" y="3324960"/>
            <a:ext cx="444500" cy="107315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20" name="组合 19"/>
          <p:cNvGrpSpPr/>
          <p:nvPr/>
        </p:nvGrpSpPr>
        <p:grpSpPr>
          <a:xfrm>
            <a:off x="7979322" y="4467526"/>
            <a:ext cx="3172591" cy="820053"/>
            <a:chOff x="4056993" y="4399209"/>
            <a:chExt cx="4512608" cy="1060916"/>
          </a:xfrm>
        </p:grpSpPr>
        <p:sp>
          <p:nvSpPr>
            <p:cNvPr id="21" name="矩形 20"/>
            <p:cNvSpPr/>
            <p:nvPr/>
          </p:nvSpPr>
          <p:spPr>
            <a:xfrm>
              <a:off x="4230413" y="4399209"/>
              <a:ext cx="940676" cy="919026"/>
            </a:xfrm>
            <a:prstGeom prst="rect">
              <a:avLst/>
            </a:prstGeom>
            <a:solidFill>
              <a:schemeClr val="accent1"/>
            </a:solidFill>
            <a:ln>
              <a:solidFill>
                <a:schemeClr val="tx1">
                  <a:lumMod val="85000"/>
                  <a:lumOff val="1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21"/>
            <p:cNvSpPr/>
            <p:nvPr/>
          </p:nvSpPr>
          <p:spPr>
            <a:xfrm>
              <a:off x="4152081" y="4467526"/>
              <a:ext cx="940676" cy="919026"/>
            </a:xfrm>
            <a:prstGeom prst="rect">
              <a:avLst/>
            </a:prstGeom>
            <a:solidFill>
              <a:schemeClr val="accent1"/>
            </a:solidFill>
            <a:ln>
              <a:solidFill>
                <a:schemeClr val="tx1">
                  <a:lumMod val="85000"/>
                  <a:lumOff val="1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3" name="矩形 22"/>
            <p:cNvSpPr/>
            <p:nvPr/>
          </p:nvSpPr>
          <p:spPr>
            <a:xfrm>
              <a:off x="4056993" y="4541099"/>
              <a:ext cx="940676" cy="919026"/>
            </a:xfrm>
            <a:prstGeom prst="rect">
              <a:avLst/>
            </a:prstGeom>
            <a:solidFill>
              <a:schemeClr val="accent1"/>
            </a:solidFill>
            <a:ln>
              <a:solidFill>
                <a:schemeClr val="tx1">
                  <a:lumMod val="85000"/>
                  <a:lumOff val="1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4" name="文本框 23"/>
            <p:cNvSpPr txBox="1"/>
            <p:nvPr/>
          </p:nvSpPr>
          <p:spPr>
            <a:xfrm>
              <a:off x="5221870" y="4742372"/>
              <a:ext cx="3347731" cy="398176"/>
            </a:xfrm>
            <a:prstGeom prst="rect">
              <a:avLst/>
            </a:prstGeom>
            <a:noFill/>
          </p:spPr>
          <p:txBody>
            <a:bodyPr wrap="square" rtlCol="0">
              <a:spAutoFit/>
            </a:bodyPr>
            <a:lstStyle/>
            <a:p>
              <a:r>
                <a:rPr lang="en-US" altLang="zh-CN" sz="1400" dirty="0" smtClean="0">
                  <a:latin typeface="Consolas" panose="020B0609020204030204" pitchFamily="49" charset="0"/>
                </a:rPr>
                <a:t>16</a:t>
              </a:r>
              <a:r>
                <a:rPr lang="zh-CN" altLang="en-US" sz="1400" dirty="0">
                  <a:latin typeface="Consolas" panose="020B0609020204030204" pitchFamily="49" charset="0"/>
                </a:rPr>
                <a:t>个大小为</a:t>
              </a:r>
              <a:r>
                <a:rPr lang="en-US" altLang="zh-CN" sz="1400" dirty="0">
                  <a:latin typeface="Consolas" panose="020B0609020204030204" pitchFamily="49" charset="0"/>
                </a:rPr>
                <a:t>(5,5)</a:t>
              </a:r>
              <a:r>
                <a:rPr lang="zh-CN" altLang="en-US" sz="1400" dirty="0">
                  <a:latin typeface="Consolas" panose="020B0609020204030204" pitchFamily="49" charset="0"/>
                </a:rPr>
                <a:t>的卷积核</a:t>
              </a:r>
            </a:p>
          </p:txBody>
        </p:sp>
      </p:grpSp>
      <p:sp>
        <p:nvSpPr>
          <p:cNvPr id="5" name="矩形 4"/>
          <p:cNvSpPr/>
          <p:nvPr/>
        </p:nvSpPr>
        <p:spPr>
          <a:xfrm>
            <a:off x="8897937" y="3338513"/>
            <a:ext cx="287338" cy="159438"/>
          </a:xfrm>
          <a:prstGeom prst="rect">
            <a:avLst/>
          </a:prstGeom>
          <a:solidFill>
            <a:schemeClr val="bg1"/>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17" name="文本框 16"/>
          <p:cNvSpPr txBox="1"/>
          <p:nvPr/>
        </p:nvSpPr>
        <p:spPr>
          <a:xfrm>
            <a:off x="8830567" y="3310510"/>
            <a:ext cx="422077" cy="215444"/>
          </a:xfrm>
          <a:prstGeom prst="rect">
            <a:avLst/>
          </a:prstGeom>
          <a:noFill/>
        </p:spPr>
        <p:txBody>
          <a:bodyPr wrap="square" rtlCol="0">
            <a:spAutoFit/>
          </a:bodyPr>
          <a:lstStyle/>
          <a:p>
            <a:r>
              <a:rPr lang="en-US" altLang="zh-CN" sz="800" b="1" dirty="0" smtClean="0"/>
              <a:t>4×4</a:t>
            </a:r>
            <a:endParaRPr lang="zh-CN" altLang="en-US" sz="800" b="1" dirty="0"/>
          </a:p>
        </p:txBody>
      </p:sp>
      <p:sp>
        <p:nvSpPr>
          <p:cNvPr id="3" name="矩形 2"/>
          <p:cNvSpPr/>
          <p:nvPr/>
        </p:nvSpPr>
        <p:spPr>
          <a:xfrm>
            <a:off x="7632700" y="3438525"/>
            <a:ext cx="41275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556386" y="3367146"/>
            <a:ext cx="635000" cy="261610"/>
          </a:xfrm>
          <a:prstGeom prst="rect">
            <a:avLst/>
          </a:prstGeom>
          <a:noFill/>
        </p:spPr>
        <p:txBody>
          <a:bodyPr wrap="square" rtlCol="0">
            <a:spAutoFit/>
          </a:bodyPr>
          <a:lstStyle/>
          <a:p>
            <a:r>
              <a:rPr lang="en-US" altLang="zh-CN" sz="1050" b="1" dirty="0" smtClean="0"/>
              <a:t>8×8</a:t>
            </a:r>
            <a:endParaRPr lang="zh-CN" altLang="en-US" sz="1050" b="1" dirty="0"/>
          </a:p>
        </p:txBody>
      </p:sp>
      <p:sp>
        <p:nvSpPr>
          <p:cNvPr id="8" name="矩形 7"/>
          <p:cNvSpPr/>
          <p:nvPr/>
        </p:nvSpPr>
        <p:spPr>
          <a:xfrm>
            <a:off x="5643563" y="3095625"/>
            <a:ext cx="371475" cy="1095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5585548" y="3019589"/>
            <a:ext cx="635000" cy="261610"/>
          </a:xfrm>
          <a:prstGeom prst="rect">
            <a:avLst/>
          </a:prstGeom>
          <a:noFill/>
        </p:spPr>
        <p:txBody>
          <a:bodyPr wrap="square" rtlCol="0">
            <a:spAutoFit/>
          </a:bodyPr>
          <a:lstStyle/>
          <a:p>
            <a:r>
              <a:rPr lang="en-US" altLang="zh-CN" sz="1050" b="1" dirty="0" smtClean="0"/>
              <a:t>12×12</a:t>
            </a:r>
            <a:endParaRPr lang="zh-CN" altLang="en-US" sz="1050" b="1" dirty="0"/>
          </a:p>
        </p:txBody>
      </p:sp>
      <p:sp>
        <p:nvSpPr>
          <p:cNvPr id="10" name="矩形 9"/>
          <p:cNvSpPr/>
          <p:nvPr/>
        </p:nvSpPr>
        <p:spPr>
          <a:xfrm>
            <a:off x="3806190" y="3411610"/>
            <a:ext cx="485526" cy="1766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3771900" y="3363882"/>
            <a:ext cx="635000" cy="261610"/>
          </a:xfrm>
          <a:prstGeom prst="rect">
            <a:avLst/>
          </a:prstGeom>
          <a:noFill/>
        </p:spPr>
        <p:txBody>
          <a:bodyPr wrap="square" rtlCol="0">
            <a:spAutoFit/>
          </a:bodyPr>
          <a:lstStyle/>
          <a:p>
            <a:r>
              <a:rPr lang="en-US" altLang="zh-CN" sz="1050" b="1" dirty="0" smtClean="0"/>
              <a:t>24×24</a:t>
            </a:r>
            <a:endParaRPr lang="zh-CN" altLang="en-US" sz="1050" b="1" dirty="0"/>
          </a:p>
        </p:txBody>
      </p:sp>
    </p:spTree>
    <p:extLst>
      <p:ext uri="{BB962C8B-B14F-4D97-AF65-F5344CB8AC3E}">
        <p14:creationId xmlns:p14="http://schemas.microsoft.com/office/powerpoint/2010/main" val="87732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945" y="0"/>
            <a:ext cx="10515600" cy="1325563"/>
          </a:xfrm>
        </p:spPr>
        <p:txBody>
          <a:bodyPr>
            <a:normAutofit/>
          </a:bodyPr>
          <a:lstStyle/>
          <a:p>
            <a:r>
              <a:rPr lang="en-US" altLang="zh-CN" sz="3200" dirty="0" smtClean="0">
                <a:latin typeface="微软雅黑" panose="020B0503020204020204" pitchFamily="34" charset="-122"/>
                <a:ea typeface="微软雅黑" panose="020B0503020204020204" pitchFamily="34" charset="-122"/>
              </a:rPr>
              <a:t>4.</a:t>
            </a:r>
            <a:r>
              <a:rPr lang="zh-CN" altLang="en-US" sz="3200" dirty="0" smtClean="0">
                <a:latin typeface="微软雅黑" panose="020B0503020204020204" pitchFamily="34" charset="-122"/>
                <a:ea typeface="微软雅黑" panose="020B0503020204020204" pitchFamily="34" charset="-122"/>
              </a:rPr>
              <a:t>对</a:t>
            </a:r>
            <a:r>
              <a:rPr lang="en-US" altLang="zh-CN" sz="3200" dirty="0" err="1" smtClean="0">
                <a:latin typeface="微软雅黑" panose="020B0503020204020204" pitchFamily="34" charset="-122"/>
                <a:ea typeface="微软雅黑" panose="020B0503020204020204" pitchFamily="34" charset="-122"/>
              </a:rPr>
              <a:t>LeNet</a:t>
            </a:r>
            <a:r>
              <a:rPr lang="zh-CN" altLang="en-US" sz="3200" dirty="0" smtClean="0">
                <a:latin typeface="微软雅黑" panose="020B0503020204020204" pitchFamily="34" charset="-122"/>
                <a:ea typeface="微软雅黑" panose="020B0503020204020204" pitchFamily="34" charset="-122"/>
              </a:rPr>
              <a:t>中的滤波器进行可视化</a:t>
            </a:r>
            <a:endParaRPr lang="zh-CN" altLang="en-US" sz="32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55600" y="1092200"/>
            <a:ext cx="11233150" cy="1200329"/>
          </a:xfrm>
          <a:prstGeom prst="rect">
            <a:avLst/>
          </a:prstGeom>
          <a:noFill/>
        </p:spPr>
        <p:txBody>
          <a:bodyPr wrap="square" rtlCol="0">
            <a:spAutoFit/>
          </a:bodyPr>
          <a:lstStyle/>
          <a:p>
            <a:r>
              <a:rPr lang="zh-CN" altLang="en-US" dirty="0">
                <a:latin typeface="Consolas" panose="020B0609020204030204" pitchFamily="49" charset="0"/>
              </a:rPr>
              <a:t>由于神经网络的权值之间存在空间关系，因此将每个滤波器（即卷积核）绘制为二维图像可能是具有意义</a:t>
            </a:r>
            <a:r>
              <a:rPr lang="zh-CN" altLang="en-US" dirty="0" smtClean="0">
                <a:latin typeface="Consolas" panose="020B0609020204030204" pitchFamily="49" charset="0"/>
              </a:rPr>
              <a:t>的</a:t>
            </a:r>
            <a:endParaRPr lang="en-US" altLang="zh-CN" dirty="0" smtClean="0">
              <a:latin typeface="Consolas" panose="020B0609020204030204" pitchFamily="49" charset="0"/>
            </a:endParaRPr>
          </a:p>
          <a:p>
            <a:endParaRPr lang="en-US" altLang="zh-CN" dirty="0">
              <a:latin typeface="Consolas" panose="020B0609020204030204" pitchFamily="49" charset="0"/>
            </a:endParaRPr>
          </a:p>
          <a:p>
            <a:r>
              <a:rPr lang="zh-CN" altLang="en-US" dirty="0" smtClean="0">
                <a:latin typeface="Consolas" panose="020B0609020204030204" pitchFamily="49" charset="0"/>
              </a:rPr>
              <a:t>将训练后的卷积核中的权值归一化到</a:t>
            </a:r>
            <a:r>
              <a:rPr lang="en-US" altLang="zh-CN" dirty="0" smtClean="0">
                <a:latin typeface="Consolas" panose="020B0609020204030204" pitchFamily="49" charset="0"/>
              </a:rPr>
              <a:t>0-1</a:t>
            </a:r>
            <a:r>
              <a:rPr lang="zh-CN" altLang="en-US" dirty="0" smtClean="0">
                <a:latin typeface="Consolas" panose="020B0609020204030204" pitchFamily="49" charset="0"/>
              </a:rPr>
              <a:t>，我们可以得到其可视化结果如下：</a:t>
            </a:r>
            <a:endParaRPr lang="en-US" altLang="zh-CN" dirty="0" smtClean="0">
              <a:latin typeface="Consolas" panose="020B0609020204030204" pitchFamily="49" charset="0"/>
            </a:endParaRPr>
          </a:p>
          <a:p>
            <a:endParaRPr lang="en-US" altLang="zh-CN" dirty="0">
              <a:latin typeface="Consolas" panose="020B0609020204030204" pitchFamily="49" charset="0"/>
            </a:endParaRPr>
          </a:p>
        </p:txBody>
      </p:sp>
      <p:sp>
        <p:nvSpPr>
          <p:cNvPr id="28" name="文本框 27"/>
          <p:cNvSpPr txBox="1"/>
          <p:nvPr/>
        </p:nvSpPr>
        <p:spPr>
          <a:xfrm>
            <a:off x="3067050" y="3936723"/>
            <a:ext cx="603250" cy="369332"/>
          </a:xfrm>
          <a:prstGeom prst="rect">
            <a:avLst/>
          </a:prstGeom>
          <a:noFill/>
        </p:spPr>
        <p:txBody>
          <a:bodyPr wrap="square" rtlCol="0">
            <a:spAutoFit/>
          </a:bodyPr>
          <a:lstStyle/>
          <a:p>
            <a:r>
              <a:rPr lang="en-US" altLang="zh-CN" dirty="0" smtClean="0">
                <a:latin typeface="Times New Roman" panose="02020603050405020304" pitchFamily="18" charset="0"/>
                <a:cs typeface="Times New Roman" panose="02020603050405020304" pitchFamily="18" charset="0"/>
              </a:rPr>
              <a:t>(a)</a:t>
            </a:r>
            <a:endParaRPr lang="zh-CN" altLang="en-US" dirty="0">
              <a:latin typeface="Times New Roman" panose="02020603050405020304" pitchFamily="18" charset="0"/>
              <a:cs typeface="Times New Roman" panose="02020603050405020304" pitchFamily="18" charset="0"/>
            </a:endParaRPr>
          </a:p>
        </p:txBody>
      </p:sp>
      <p:sp>
        <p:nvSpPr>
          <p:cNvPr id="29" name="文本框 28"/>
          <p:cNvSpPr txBox="1"/>
          <p:nvPr/>
        </p:nvSpPr>
        <p:spPr>
          <a:xfrm>
            <a:off x="8591550" y="3923914"/>
            <a:ext cx="977900" cy="369332"/>
          </a:xfrm>
          <a:prstGeom prst="rect">
            <a:avLst/>
          </a:prstGeom>
          <a:noFill/>
        </p:spPr>
        <p:txBody>
          <a:bodyPr wrap="square" rtlCol="0">
            <a:spAutoFit/>
          </a:bodyPr>
          <a:lstStyle/>
          <a:p>
            <a:r>
              <a:rPr lang="en-US" altLang="zh-CN" dirty="0" smtClean="0">
                <a:latin typeface="Times New Roman" panose="02020603050405020304" pitchFamily="18" charset="0"/>
                <a:cs typeface="Times New Roman" panose="02020603050405020304" pitchFamily="18" charset="0"/>
              </a:rPr>
              <a:t>(b)</a:t>
            </a:r>
            <a:endParaRPr lang="zh-CN" altLang="en-US" dirty="0">
              <a:latin typeface="Times New Roman" panose="02020603050405020304" pitchFamily="18" charset="0"/>
              <a:cs typeface="Times New Roman" panose="02020603050405020304" pitchFamily="18" charset="0"/>
            </a:endParaRPr>
          </a:p>
        </p:txBody>
      </p:sp>
      <p:sp>
        <p:nvSpPr>
          <p:cNvPr id="30" name="文本框 29"/>
          <p:cNvSpPr txBox="1"/>
          <p:nvPr/>
        </p:nvSpPr>
        <p:spPr>
          <a:xfrm>
            <a:off x="2489200" y="4306055"/>
            <a:ext cx="7080250" cy="646331"/>
          </a:xfrm>
          <a:prstGeom prst="rect">
            <a:avLst/>
          </a:prstGeom>
          <a:noFill/>
        </p:spPr>
        <p:txBody>
          <a:bodyPr wrap="square" rtlCol="0">
            <a:spAutoFit/>
          </a:bodyPr>
          <a:lstStyle/>
          <a:p>
            <a:r>
              <a:rPr lang="en-US" altLang="zh-CN" dirty="0" smtClean="0">
                <a:latin typeface="Times New Roman" panose="02020603050405020304" pitchFamily="18" charset="0"/>
                <a:cs typeface="Times New Roman" panose="02020603050405020304" pitchFamily="18" charset="0"/>
              </a:rPr>
              <a:t>Figure6 </a:t>
            </a:r>
            <a:r>
              <a:rPr lang="zh-CN" altLang="en-US" dirty="0" smtClean="0">
                <a:latin typeface="Times New Roman" panose="02020603050405020304" pitchFamily="18" charset="0"/>
                <a:cs typeface="Times New Roman" panose="02020603050405020304" pitchFamily="18" charset="0"/>
              </a:rPr>
              <a:t>滤波器可视化结果</a:t>
            </a:r>
            <a:r>
              <a:rPr lang="zh-CN" alt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altLang="zh-CN" dirty="0" smtClean="0">
                <a:latin typeface="Times New Roman" panose="02020603050405020304" pitchFamily="18" charset="0"/>
                <a:cs typeface="Times New Roman" panose="02020603050405020304" pitchFamily="18" charset="0"/>
                <a:sym typeface="Wingdings" panose="05000000000000000000" pitchFamily="2" charset="2"/>
              </a:rPr>
              <a:t>a)</a:t>
            </a:r>
            <a:r>
              <a:rPr lang="zh-CN" altLang="en-US" dirty="0" smtClean="0">
                <a:latin typeface="Times New Roman" panose="02020603050405020304" pitchFamily="18" charset="0"/>
                <a:cs typeface="Times New Roman" panose="02020603050405020304" pitchFamily="18" charset="0"/>
                <a:sym typeface="Wingdings" panose="05000000000000000000" pitchFamily="2" charset="2"/>
              </a:rPr>
              <a:t>为</a:t>
            </a:r>
            <a:r>
              <a:rPr lang="en-US" altLang="zh-CN" dirty="0" smtClean="0">
                <a:latin typeface="Times New Roman" panose="02020603050405020304" pitchFamily="18" charset="0"/>
                <a:cs typeface="Times New Roman" panose="02020603050405020304" pitchFamily="18" charset="0"/>
                <a:sym typeface="Wingdings" panose="05000000000000000000" pitchFamily="2" charset="2"/>
              </a:rPr>
              <a:t>L1</a:t>
            </a:r>
            <a:r>
              <a:rPr lang="zh-CN" altLang="en-US" dirty="0" smtClean="0">
                <a:latin typeface="Times New Roman" panose="02020603050405020304" pitchFamily="18" charset="0"/>
                <a:cs typeface="Times New Roman" panose="02020603050405020304" pitchFamily="18" charset="0"/>
                <a:sym typeface="Wingdings" panose="05000000000000000000" pitchFamily="2" charset="2"/>
              </a:rPr>
              <a:t>的卷积核，（</a:t>
            </a:r>
            <a:r>
              <a:rPr lang="en-US" altLang="zh-CN" dirty="0" smtClean="0">
                <a:latin typeface="Times New Roman" panose="02020603050405020304" pitchFamily="18" charset="0"/>
                <a:cs typeface="Times New Roman" panose="02020603050405020304" pitchFamily="18" charset="0"/>
                <a:sym typeface="Wingdings" panose="05000000000000000000" pitchFamily="2" charset="2"/>
              </a:rPr>
              <a:t>b)</a:t>
            </a:r>
            <a:r>
              <a:rPr lang="zh-CN" altLang="en-US" dirty="0" smtClean="0">
                <a:latin typeface="Times New Roman" panose="02020603050405020304" pitchFamily="18" charset="0"/>
                <a:cs typeface="Times New Roman" panose="02020603050405020304" pitchFamily="18" charset="0"/>
                <a:sym typeface="Wingdings" panose="05000000000000000000" pitchFamily="2" charset="2"/>
              </a:rPr>
              <a:t>为</a:t>
            </a:r>
            <a:r>
              <a:rPr lang="en-US" altLang="zh-CN" dirty="0" smtClean="0">
                <a:latin typeface="Times New Roman" panose="02020603050405020304" pitchFamily="18" charset="0"/>
                <a:cs typeface="Times New Roman" panose="02020603050405020304" pitchFamily="18" charset="0"/>
                <a:sym typeface="Wingdings" panose="05000000000000000000" pitchFamily="2" charset="2"/>
              </a:rPr>
              <a:t>L3</a:t>
            </a:r>
            <a:r>
              <a:rPr lang="zh-CN" altLang="en-US" dirty="0" smtClean="0">
                <a:latin typeface="Times New Roman" panose="02020603050405020304" pitchFamily="18" charset="0"/>
                <a:cs typeface="Times New Roman" panose="02020603050405020304" pitchFamily="18" charset="0"/>
                <a:sym typeface="Wingdings" panose="05000000000000000000" pitchFamily="2" charset="2"/>
              </a:rPr>
              <a:t>的卷积核</a:t>
            </a:r>
            <a:endParaRPr lang="en-US" altLang="zh-CN" dirty="0" smtClean="0">
              <a:latin typeface="Times New Roman" panose="02020603050405020304" pitchFamily="18" charset="0"/>
              <a:cs typeface="Times New Roman" panose="02020603050405020304" pitchFamily="18" charset="0"/>
              <a:sym typeface="Wingdings" panose="05000000000000000000" pitchFamily="2" charset="2"/>
            </a:endParaRPr>
          </a:p>
          <a:p>
            <a:r>
              <a:rPr lang="zh-CN" altLang="en-US" dirty="0" smtClean="0">
                <a:latin typeface="Times New Roman" panose="02020603050405020304" pitchFamily="18" charset="0"/>
                <a:cs typeface="Times New Roman" panose="02020603050405020304" pitchFamily="18" charset="0"/>
                <a:sym typeface="Wingdings" panose="05000000000000000000" pitchFamily="2" charset="2"/>
              </a:rPr>
              <a:t>深色表示小权重或抑制性权重，浅色方块则表示权重较大</a:t>
            </a:r>
            <a:endParaRPr lang="en-US" altLang="zh-CN" dirty="0" smtClean="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3324" y="2298924"/>
            <a:ext cx="4855780" cy="1618594"/>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3388" y="2185500"/>
            <a:ext cx="5536324" cy="1845441"/>
          </a:xfrm>
          <a:prstGeom prst="rect">
            <a:avLst/>
          </a:prstGeom>
        </p:spPr>
      </p:pic>
    </p:spTree>
    <p:extLst>
      <p:ext uri="{BB962C8B-B14F-4D97-AF65-F5344CB8AC3E}">
        <p14:creationId xmlns:p14="http://schemas.microsoft.com/office/powerpoint/2010/main" val="5022452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945" y="0"/>
            <a:ext cx="10515600" cy="1325563"/>
          </a:xfrm>
        </p:spPr>
        <p:txBody>
          <a:bodyPr>
            <a:normAutofit/>
          </a:bodyPr>
          <a:lstStyle/>
          <a:p>
            <a:r>
              <a:rPr lang="en-US" altLang="zh-CN" sz="3200" dirty="0">
                <a:latin typeface="微软雅黑" panose="020B0503020204020204" pitchFamily="34" charset="-122"/>
                <a:ea typeface="微软雅黑" panose="020B0503020204020204" pitchFamily="34" charset="-122"/>
              </a:rPr>
              <a:t>5</a:t>
            </a:r>
            <a:r>
              <a:rPr lang="en-US" altLang="zh-CN" sz="3200" dirty="0" smtClean="0">
                <a:latin typeface="微软雅黑" panose="020B0503020204020204" pitchFamily="34" charset="-122"/>
                <a:ea typeface="微软雅黑" panose="020B0503020204020204" pitchFamily="34" charset="-122"/>
              </a:rPr>
              <a:t>.</a:t>
            </a:r>
            <a:r>
              <a:rPr lang="zh-CN" altLang="en-US" sz="3200" dirty="0" smtClean="0">
                <a:latin typeface="微软雅黑" panose="020B0503020204020204" pitchFamily="34" charset="-122"/>
                <a:ea typeface="微软雅黑" panose="020B0503020204020204" pitchFamily="34" charset="-122"/>
              </a:rPr>
              <a:t>对</a:t>
            </a:r>
            <a:r>
              <a:rPr lang="en-US" altLang="zh-CN" sz="3200" dirty="0" err="1" smtClean="0">
                <a:latin typeface="微软雅黑" panose="020B0503020204020204" pitchFamily="34" charset="-122"/>
                <a:ea typeface="微软雅黑" panose="020B0503020204020204" pitchFamily="34" charset="-122"/>
              </a:rPr>
              <a:t>LeNet</a:t>
            </a:r>
            <a:r>
              <a:rPr lang="zh-CN" altLang="en-US" sz="3200" dirty="0" smtClean="0">
                <a:latin typeface="微软雅黑" panose="020B0503020204020204" pitchFamily="34" charset="-122"/>
                <a:ea typeface="微软雅黑" panose="020B0503020204020204" pitchFamily="34" charset="-122"/>
              </a:rPr>
              <a:t>中的</a:t>
            </a:r>
            <a:r>
              <a:rPr lang="zh-CN" altLang="en-US" sz="3200" dirty="0">
                <a:latin typeface="微软雅黑" panose="020B0503020204020204" pitchFamily="34" charset="-122"/>
                <a:ea typeface="微软雅黑" panose="020B0503020204020204" pitchFamily="34" charset="-122"/>
              </a:rPr>
              <a:t>特征图</a:t>
            </a:r>
            <a:r>
              <a:rPr lang="zh-CN" altLang="en-US" sz="3200" dirty="0" smtClean="0">
                <a:latin typeface="微软雅黑" panose="020B0503020204020204" pitchFamily="34" charset="-122"/>
                <a:ea typeface="微软雅黑" panose="020B0503020204020204" pitchFamily="34" charset="-122"/>
              </a:rPr>
              <a:t>进行可视化</a:t>
            </a:r>
            <a:endParaRPr lang="zh-CN" altLang="en-US" sz="32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30769" t="12010" r="28402" b="10635"/>
          <a:stretch/>
        </p:blipFill>
        <p:spPr>
          <a:xfrm>
            <a:off x="730469" y="2065283"/>
            <a:ext cx="725214" cy="714703"/>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9558" y="1199928"/>
            <a:ext cx="2624318" cy="874773"/>
          </a:xfrm>
          <a:prstGeom prst="rect">
            <a:avLst/>
          </a:prstGeom>
        </p:spPr>
      </p:pic>
      <p:cxnSp>
        <p:nvCxnSpPr>
          <p:cNvPr id="8" name="直接箭头连接符 7"/>
          <p:cNvCxnSpPr/>
          <p:nvPr/>
        </p:nvCxnSpPr>
        <p:spPr>
          <a:xfrm flipV="1">
            <a:off x="1739462" y="2328041"/>
            <a:ext cx="1954924" cy="94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文本框 8"/>
          <p:cNvSpPr txBox="1"/>
          <p:nvPr/>
        </p:nvSpPr>
        <p:spPr>
          <a:xfrm>
            <a:off x="1795634" y="2404185"/>
            <a:ext cx="1630738" cy="646331"/>
          </a:xfrm>
          <a:prstGeom prst="rect">
            <a:avLst/>
          </a:prstGeom>
          <a:noFill/>
        </p:spPr>
        <p:txBody>
          <a:bodyPr wrap="square" rtlCol="0">
            <a:spAutoFit/>
          </a:bodyPr>
          <a:lstStyle/>
          <a:p>
            <a:r>
              <a:rPr lang="en-US" altLang="zh-CN" dirty="0" smtClean="0">
                <a:latin typeface="Consolas" panose="020B0609020204030204" pitchFamily="49" charset="0"/>
              </a:rPr>
              <a:t>Convolution</a:t>
            </a:r>
          </a:p>
          <a:p>
            <a:endParaRPr lang="zh-CN" altLang="en-US" dirty="0"/>
          </a:p>
        </p:txBody>
      </p:sp>
      <p:pic>
        <p:nvPicPr>
          <p:cNvPr id="10" name="图片 9"/>
          <p:cNvPicPr>
            <a:picLocks noChangeAspect="1"/>
          </p:cNvPicPr>
          <p:nvPr/>
        </p:nvPicPr>
        <p:blipFill rotWithShape="1">
          <a:blip r:embed="rId4">
            <a:extLst>
              <a:ext uri="{28A0092B-C50C-407E-A947-70E740481C1C}">
                <a14:useLocalDpi xmlns:a14="http://schemas.microsoft.com/office/drawing/2010/main" val="0"/>
              </a:ext>
            </a:extLst>
          </a:blip>
          <a:srcRect b="73886"/>
          <a:stretch/>
        </p:blipFill>
        <p:spPr>
          <a:xfrm>
            <a:off x="3654333" y="1836413"/>
            <a:ext cx="5116552" cy="1002085"/>
          </a:xfrm>
          <a:prstGeom prst="rect">
            <a:avLst/>
          </a:prstGeom>
        </p:spPr>
      </p:pic>
      <p:sp>
        <p:nvSpPr>
          <p:cNvPr id="11" name="文本框 10"/>
          <p:cNvSpPr txBox="1"/>
          <p:nvPr/>
        </p:nvSpPr>
        <p:spPr>
          <a:xfrm>
            <a:off x="5328745" y="1432653"/>
            <a:ext cx="2233449" cy="369332"/>
          </a:xfrm>
          <a:prstGeom prst="rect">
            <a:avLst/>
          </a:prstGeom>
          <a:noFill/>
        </p:spPr>
        <p:txBody>
          <a:bodyPr wrap="square" rtlCol="0">
            <a:spAutoFit/>
          </a:bodyPr>
          <a:lstStyle/>
          <a:p>
            <a:r>
              <a:rPr lang="en-US" altLang="zh-CN" dirty="0" smtClean="0">
                <a:latin typeface="Consolas" panose="020B0609020204030204" pitchFamily="49" charset="0"/>
              </a:rPr>
              <a:t>feature map</a:t>
            </a:r>
            <a:endParaRPr lang="zh-CN" altLang="en-US" dirty="0">
              <a:latin typeface="Consolas" panose="020B0609020204030204" pitchFamily="49" charset="0"/>
            </a:endParaRPr>
          </a:p>
        </p:txBody>
      </p:sp>
      <p:sp>
        <p:nvSpPr>
          <p:cNvPr id="14" name="右弧形箭头 13"/>
          <p:cNvSpPr/>
          <p:nvPr/>
        </p:nvSpPr>
        <p:spPr>
          <a:xfrm>
            <a:off x="9008360" y="2201080"/>
            <a:ext cx="520263" cy="1343821"/>
          </a:xfrm>
          <a:prstGeom prst="curved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
        <p:nvSpPr>
          <p:cNvPr id="17" name="文本框 16"/>
          <p:cNvSpPr txBox="1"/>
          <p:nvPr/>
        </p:nvSpPr>
        <p:spPr>
          <a:xfrm>
            <a:off x="9610431" y="2515332"/>
            <a:ext cx="1150883" cy="646331"/>
          </a:xfrm>
          <a:prstGeom prst="rect">
            <a:avLst/>
          </a:prstGeom>
          <a:noFill/>
        </p:spPr>
        <p:txBody>
          <a:bodyPr wrap="square" rtlCol="0">
            <a:spAutoFit/>
          </a:bodyPr>
          <a:lstStyle/>
          <a:p>
            <a:r>
              <a:rPr lang="en-US" altLang="zh-CN" dirty="0" smtClean="0">
                <a:latin typeface="Consolas" panose="020B0609020204030204" pitchFamily="49" charset="0"/>
              </a:rPr>
              <a:t>Average Pooling</a:t>
            </a:r>
            <a:endParaRPr lang="zh-CN" altLang="en-US" dirty="0">
              <a:latin typeface="Consolas" panose="020B0609020204030204" pitchFamily="49" charset="0"/>
            </a:endParaRPr>
          </a:p>
        </p:txBody>
      </p:sp>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l="268" t="26284" r="-736" b="49343"/>
          <a:stretch/>
        </p:blipFill>
        <p:spPr>
          <a:xfrm>
            <a:off x="3657457" y="2974372"/>
            <a:ext cx="5232166" cy="954024"/>
          </a:xfrm>
          <a:prstGeom prst="rect">
            <a:avLst/>
          </a:prstGeom>
        </p:spPr>
      </p:pic>
      <p:sp>
        <p:nvSpPr>
          <p:cNvPr id="23" name="左弧形箭头 22"/>
          <p:cNvSpPr/>
          <p:nvPr/>
        </p:nvSpPr>
        <p:spPr>
          <a:xfrm>
            <a:off x="2942897" y="3421117"/>
            <a:ext cx="483475" cy="1066800"/>
          </a:xfrm>
          <a:prstGeom prst="curved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
        <p:nvSpPr>
          <p:cNvPr id="24" name="文本框 23"/>
          <p:cNvSpPr txBox="1"/>
          <p:nvPr/>
        </p:nvSpPr>
        <p:spPr>
          <a:xfrm>
            <a:off x="1066799" y="4152404"/>
            <a:ext cx="1898752" cy="646331"/>
          </a:xfrm>
          <a:prstGeom prst="rect">
            <a:avLst/>
          </a:prstGeom>
          <a:noFill/>
        </p:spPr>
        <p:txBody>
          <a:bodyPr wrap="square" rtlCol="0">
            <a:spAutoFit/>
          </a:bodyPr>
          <a:lstStyle/>
          <a:p>
            <a:r>
              <a:rPr lang="en-US" altLang="zh-CN" dirty="0" smtClean="0">
                <a:latin typeface="Consolas" panose="020B0609020204030204" pitchFamily="49" charset="0"/>
              </a:rPr>
              <a:t>Convolution</a:t>
            </a:r>
          </a:p>
          <a:p>
            <a:endParaRPr lang="zh-CN" altLang="en-US" dirty="0"/>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523" y="3496493"/>
            <a:ext cx="2036221" cy="678740"/>
          </a:xfrm>
          <a:prstGeom prst="rect">
            <a:avLst/>
          </a:prstGeom>
        </p:spPr>
      </p:pic>
      <p:pic>
        <p:nvPicPr>
          <p:cNvPr id="26" name="图片 25"/>
          <p:cNvPicPr>
            <a:picLocks noChangeAspect="1"/>
          </p:cNvPicPr>
          <p:nvPr/>
        </p:nvPicPr>
        <p:blipFill rotWithShape="1">
          <a:blip r:embed="rId4">
            <a:extLst>
              <a:ext uri="{28A0092B-C50C-407E-A947-70E740481C1C}">
                <a14:useLocalDpi xmlns:a14="http://schemas.microsoft.com/office/drawing/2010/main" val="0"/>
              </a:ext>
            </a:extLst>
          </a:blip>
          <a:srcRect t="50060" b="25156"/>
          <a:stretch/>
        </p:blipFill>
        <p:spPr>
          <a:xfrm>
            <a:off x="3747638" y="3928396"/>
            <a:ext cx="5186969" cy="964170"/>
          </a:xfrm>
          <a:prstGeom prst="rect">
            <a:avLst/>
          </a:prstGeom>
        </p:spPr>
      </p:pic>
      <p:sp>
        <p:nvSpPr>
          <p:cNvPr id="28" name="右弧形箭头 27"/>
          <p:cNvSpPr/>
          <p:nvPr/>
        </p:nvSpPr>
        <p:spPr>
          <a:xfrm>
            <a:off x="9024788" y="4152404"/>
            <a:ext cx="520263" cy="1343821"/>
          </a:xfrm>
          <a:prstGeom prst="curved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chemeClr val="tx1"/>
              </a:solidFill>
            </a:endParaRPr>
          </a:p>
        </p:txBody>
      </p:sp>
      <p:sp>
        <p:nvSpPr>
          <p:cNvPr id="29" name="文本框 28"/>
          <p:cNvSpPr txBox="1"/>
          <p:nvPr/>
        </p:nvSpPr>
        <p:spPr>
          <a:xfrm>
            <a:off x="9626859" y="4466656"/>
            <a:ext cx="1150883" cy="646331"/>
          </a:xfrm>
          <a:prstGeom prst="rect">
            <a:avLst/>
          </a:prstGeom>
          <a:noFill/>
        </p:spPr>
        <p:txBody>
          <a:bodyPr wrap="square" rtlCol="0">
            <a:spAutoFit/>
          </a:bodyPr>
          <a:lstStyle/>
          <a:p>
            <a:r>
              <a:rPr lang="en-US" altLang="zh-CN" dirty="0" smtClean="0">
                <a:latin typeface="Consolas" panose="020B0609020204030204" pitchFamily="49" charset="0"/>
              </a:rPr>
              <a:t>Average Pooling</a:t>
            </a:r>
            <a:endParaRPr lang="zh-CN" altLang="en-US" dirty="0">
              <a:latin typeface="Consolas" panose="020B0609020204030204" pitchFamily="49" charset="0"/>
            </a:endParaRPr>
          </a:p>
        </p:txBody>
      </p:sp>
      <p:pic>
        <p:nvPicPr>
          <p:cNvPr id="30" name="图片 29"/>
          <p:cNvPicPr>
            <a:picLocks noChangeAspect="1"/>
          </p:cNvPicPr>
          <p:nvPr/>
        </p:nvPicPr>
        <p:blipFill rotWithShape="1">
          <a:blip r:embed="rId4">
            <a:extLst>
              <a:ext uri="{28A0092B-C50C-407E-A947-70E740481C1C}">
                <a14:useLocalDpi xmlns:a14="http://schemas.microsoft.com/office/drawing/2010/main" val="0"/>
              </a:ext>
            </a:extLst>
          </a:blip>
          <a:srcRect t="74365"/>
          <a:stretch/>
        </p:blipFill>
        <p:spPr>
          <a:xfrm>
            <a:off x="3747638" y="4950084"/>
            <a:ext cx="5110248" cy="982494"/>
          </a:xfrm>
          <a:prstGeom prst="rect">
            <a:avLst/>
          </a:prstGeom>
        </p:spPr>
      </p:pic>
      <p:cxnSp>
        <p:nvCxnSpPr>
          <p:cNvPr id="32" name="直接箭头连接符 31"/>
          <p:cNvCxnSpPr>
            <a:stCxn id="30" idx="1"/>
          </p:cNvCxnSpPr>
          <p:nvPr/>
        </p:nvCxnSpPr>
        <p:spPr>
          <a:xfrm flipH="1">
            <a:off x="2813744" y="5441331"/>
            <a:ext cx="93389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2841983" y="5011042"/>
            <a:ext cx="1271752" cy="369332"/>
          </a:xfrm>
          <a:prstGeom prst="rect">
            <a:avLst/>
          </a:prstGeom>
          <a:noFill/>
        </p:spPr>
        <p:txBody>
          <a:bodyPr wrap="square" rtlCol="0">
            <a:spAutoFit/>
          </a:bodyPr>
          <a:lstStyle/>
          <a:p>
            <a:r>
              <a:rPr lang="en-US" altLang="zh-CN" dirty="0" smtClean="0">
                <a:latin typeface="Consolas" panose="020B0609020204030204" pitchFamily="49" charset="0"/>
              </a:rPr>
              <a:t>Dense</a:t>
            </a:r>
            <a:endParaRPr lang="zh-CN" altLang="en-US" dirty="0">
              <a:latin typeface="Consolas" panose="020B0609020204030204" pitchFamily="49" charset="0"/>
            </a:endParaRPr>
          </a:p>
        </p:txBody>
      </p:sp>
      <p:sp>
        <p:nvSpPr>
          <p:cNvPr id="34" name="文本框 33"/>
          <p:cNvSpPr txBox="1"/>
          <p:nvPr/>
        </p:nvSpPr>
        <p:spPr>
          <a:xfrm>
            <a:off x="2380680" y="5195708"/>
            <a:ext cx="522073" cy="369332"/>
          </a:xfrm>
          <a:prstGeom prst="rect">
            <a:avLst/>
          </a:prstGeom>
          <a:noFill/>
        </p:spPr>
        <p:txBody>
          <a:bodyPr wrap="square" rtlCol="0">
            <a:spAutoFit/>
          </a:bodyPr>
          <a:lstStyle/>
          <a:p>
            <a:r>
              <a:rPr lang="en-US" altLang="zh-CN" dirty="0" smtClean="0">
                <a:latin typeface="Consolas" panose="020B0609020204030204" pitchFamily="49" charset="0"/>
              </a:rPr>
              <a:t>…</a:t>
            </a:r>
            <a:endParaRPr lang="zh-CN" altLang="en-US" dirty="0">
              <a:latin typeface="Consolas" panose="020B0609020204030204" pitchFamily="49" charset="0"/>
            </a:endParaRPr>
          </a:p>
        </p:txBody>
      </p:sp>
      <p:sp>
        <p:nvSpPr>
          <p:cNvPr id="35" name="文本框 34"/>
          <p:cNvSpPr txBox="1"/>
          <p:nvPr/>
        </p:nvSpPr>
        <p:spPr>
          <a:xfrm>
            <a:off x="719843" y="2838497"/>
            <a:ext cx="899374" cy="369332"/>
          </a:xfrm>
          <a:prstGeom prst="rect">
            <a:avLst/>
          </a:prstGeom>
          <a:noFill/>
        </p:spPr>
        <p:txBody>
          <a:bodyPr wrap="square" rtlCol="0">
            <a:spAutoFit/>
          </a:bodyPr>
          <a:lstStyle/>
          <a:p>
            <a:r>
              <a:rPr lang="en-US" altLang="zh-CN" dirty="0" smtClean="0">
                <a:latin typeface="Consolas" panose="020B0609020204030204" pitchFamily="49" charset="0"/>
              </a:rPr>
              <a:t>input</a:t>
            </a:r>
            <a:endParaRPr lang="zh-CN" altLang="en-US" dirty="0"/>
          </a:p>
        </p:txBody>
      </p:sp>
      <p:sp>
        <p:nvSpPr>
          <p:cNvPr id="36" name="文本框 35"/>
          <p:cNvSpPr txBox="1"/>
          <p:nvPr/>
        </p:nvSpPr>
        <p:spPr>
          <a:xfrm>
            <a:off x="505822" y="5112987"/>
            <a:ext cx="1960699" cy="646331"/>
          </a:xfrm>
          <a:prstGeom prst="rect">
            <a:avLst/>
          </a:prstGeom>
          <a:noFill/>
        </p:spPr>
        <p:txBody>
          <a:bodyPr wrap="square" rtlCol="0">
            <a:spAutoFit/>
          </a:bodyPr>
          <a:lstStyle/>
          <a:p>
            <a:r>
              <a:rPr lang="en-US" altLang="zh-CN" dirty="0">
                <a:latin typeface="Consolas" panose="020B0609020204030204" pitchFamily="49" charset="0"/>
              </a:rPr>
              <a:t>Output:</a:t>
            </a:r>
          </a:p>
          <a:p>
            <a:r>
              <a:rPr lang="en-US" altLang="zh-CN" dirty="0">
                <a:latin typeface="Consolas" panose="020B0609020204030204" pitchFamily="49" charset="0"/>
              </a:rPr>
              <a:t>Result = 0</a:t>
            </a:r>
            <a:endParaRPr lang="zh-CN" altLang="en-US" dirty="0">
              <a:latin typeface="Consolas" panose="020B0609020204030204" pitchFamily="49" charset="0"/>
            </a:endParaRPr>
          </a:p>
        </p:txBody>
      </p:sp>
    </p:spTree>
    <p:extLst>
      <p:ext uri="{BB962C8B-B14F-4D97-AF65-F5344CB8AC3E}">
        <p14:creationId xmlns:p14="http://schemas.microsoft.com/office/powerpoint/2010/main" val="123372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4" grpId="0" animBg="1"/>
      <p:bldP spid="17" grpId="0"/>
      <p:bldP spid="23" grpId="0" animBg="1"/>
      <p:bldP spid="24" grpId="0"/>
      <p:bldP spid="28" grpId="0" animBg="1"/>
      <p:bldP spid="29" grpId="0"/>
      <p:bldP spid="33" grpId="0"/>
      <p:bldP spid="34" grpId="0"/>
      <p:bldP spid="35"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70945"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微软雅黑" panose="020B0503020204020204" pitchFamily="34" charset="-122"/>
                <a:ea typeface="微软雅黑" panose="020B0503020204020204" pitchFamily="34" charset="-122"/>
              </a:rPr>
              <a:t>5.</a:t>
            </a:r>
            <a:r>
              <a:rPr lang="zh-CN" altLang="en-US" sz="3200" dirty="0" smtClean="0">
                <a:latin typeface="微软雅黑" panose="020B0503020204020204" pitchFamily="34" charset="-122"/>
                <a:ea typeface="微软雅黑" panose="020B0503020204020204" pitchFamily="34" charset="-122"/>
              </a:rPr>
              <a:t>对</a:t>
            </a:r>
            <a:r>
              <a:rPr lang="en-US" altLang="zh-CN" sz="3200" dirty="0" err="1" smtClean="0">
                <a:latin typeface="微软雅黑" panose="020B0503020204020204" pitchFamily="34" charset="-122"/>
                <a:ea typeface="微软雅黑" panose="020B0503020204020204" pitchFamily="34" charset="-122"/>
              </a:rPr>
              <a:t>LeNet</a:t>
            </a:r>
            <a:r>
              <a:rPr lang="zh-CN" altLang="en-US" sz="3200" dirty="0" smtClean="0">
                <a:latin typeface="微软雅黑" panose="020B0503020204020204" pitchFamily="34" charset="-122"/>
                <a:ea typeface="微软雅黑" panose="020B0503020204020204" pitchFamily="34" charset="-122"/>
              </a:rPr>
              <a:t>中的特征图进行可视化</a:t>
            </a:r>
            <a:endParaRPr lang="zh-CN" altLang="en-US" sz="32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85762" y="956231"/>
            <a:ext cx="4014788" cy="369332"/>
          </a:xfrm>
          <a:prstGeom prst="rect">
            <a:avLst/>
          </a:prstGeom>
          <a:noFill/>
        </p:spPr>
        <p:txBody>
          <a:bodyPr wrap="square" rtlCol="0">
            <a:spAutoFit/>
          </a:bodyPr>
          <a:lstStyle/>
          <a:p>
            <a:r>
              <a:rPr lang="zh-CN" altLang="en-US" dirty="0">
                <a:latin typeface="Consolas" panose="020B0609020204030204" pitchFamily="49" charset="0"/>
              </a:rPr>
              <a:t>其它数字的一些特征图如下所</a:t>
            </a:r>
            <a:r>
              <a:rPr lang="zh-CN" altLang="en-US" dirty="0" smtClean="0">
                <a:latin typeface="Consolas" panose="020B0609020204030204" pitchFamily="49" charset="0"/>
              </a:rPr>
              <a:t>示</a:t>
            </a:r>
            <a:r>
              <a:rPr lang="en-US" altLang="zh-CN" dirty="0" smtClean="0">
                <a:latin typeface="Consolas" panose="020B0609020204030204" pitchFamily="49" charset="0"/>
              </a:rPr>
              <a:t>:</a:t>
            </a:r>
            <a:endParaRPr lang="zh-CN" altLang="en-US" dirty="0">
              <a:latin typeface="Consolas" panose="020B0609020204030204" pitchFamily="49" charset="0"/>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6825" y="1425542"/>
            <a:ext cx="1524000" cy="792718"/>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762" y="2218260"/>
            <a:ext cx="3656335" cy="2742251"/>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62563" y="1425542"/>
            <a:ext cx="1590675" cy="827399"/>
          </a:xfrm>
          <a:prstGeom prst="rect">
            <a:avLst/>
          </a:prstGeom>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1835" y="2208064"/>
            <a:ext cx="3669929" cy="2752447"/>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244012" y="1425542"/>
            <a:ext cx="1652588" cy="859603"/>
          </a:xfrm>
          <a:prstGeom prst="rect">
            <a:avLst/>
          </a:prstGeom>
        </p:spPr>
      </p:pic>
      <p:pic>
        <p:nvPicPr>
          <p:cNvPr id="14" name="图片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51502" y="2218260"/>
            <a:ext cx="3656334" cy="2742251"/>
          </a:xfrm>
          <a:prstGeom prst="rect">
            <a:avLst/>
          </a:prstGeom>
        </p:spPr>
      </p:pic>
      <p:sp>
        <p:nvSpPr>
          <p:cNvPr id="15" name="文本框 14"/>
          <p:cNvSpPr txBox="1"/>
          <p:nvPr/>
        </p:nvSpPr>
        <p:spPr>
          <a:xfrm>
            <a:off x="4610100" y="5072063"/>
            <a:ext cx="272415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Figure7 2,9,3</a:t>
            </a:r>
            <a:r>
              <a:rPr lang="zh-CN" altLang="en-US" dirty="0">
                <a:latin typeface="Times New Roman" panose="02020603050405020304" pitchFamily="18" charset="0"/>
                <a:cs typeface="Times New Roman" panose="02020603050405020304" pitchFamily="18" charset="0"/>
              </a:rPr>
              <a:t>的特征图</a:t>
            </a:r>
          </a:p>
        </p:txBody>
      </p:sp>
    </p:spTree>
    <p:extLst>
      <p:ext uri="{BB962C8B-B14F-4D97-AF65-F5344CB8AC3E}">
        <p14:creationId xmlns:p14="http://schemas.microsoft.com/office/powerpoint/2010/main" val="26870516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70945"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微软雅黑" panose="020B0503020204020204" pitchFamily="34" charset="-122"/>
                <a:ea typeface="微软雅黑" panose="020B0503020204020204" pitchFamily="34" charset="-122"/>
              </a:rPr>
              <a:t>6.</a:t>
            </a:r>
            <a:r>
              <a:rPr lang="zh-CN" altLang="en-US" sz="3200" dirty="0" smtClean="0">
                <a:latin typeface="微软雅黑" panose="020B0503020204020204" pitchFamily="34" charset="-122"/>
                <a:ea typeface="微软雅黑" panose="020B0503020204020204" pitchFamily="34" charset="-122"/>
              </a:rPr>
              <a:t>不同</a:t>
            </a:r>
            <a:r>
              <a:rPr lang="zh-CN" altLang="en-US" sz="3200" dirty="0">
                <a:latin typeface="微软雅黑" panose="020B0503020204020204" pitchFamily="34" charset="-122"/>
                <a:ea typeface="微软雅黑" panose="020B0503020204020204" pitchFamily="34" charset="-122"/>
              </a:rPr>
              <a:t>激活函数和卷积核大小的可视化效果</a:t>
            </a:r>
          </a:p>
          <a:p>
            <a:endParaRPr lang="zh-CN" altLang="en-US" sz="32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428625" y="956231"/>
            <a:ext cx="2566987" cy="369332"/>
          </a:xfrm>
          <a:prstGeom prst="rect">
            <a:avLst/>
          </a:prstGeom>
          <a:noFill/>
        </p:spPr>
        <p:txBody>
          <a:bodyPr wrap="square" rtlCol="0">
            <a:spAutoFit/>
          </a:bodyPr>
          <a:lstStyle/>
          <a:p>
            <a:r>
              <a:rPr lang="en-US" altLang="zh-CN" dirty="0" smtClean="0"/>
              <a:t>1.</a:t>
            </a:r>
            <a:r>
              <a:rPr lang="zh-CN" altLang="en-US" dirty="0" smtClean="0"/>
              <a:t>激活函数选择</a:t>
            </a:r>
            <a:endParaRPr lang="zh-CN" altLang="en-US"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65603" y="1140897"/>
            <a:ext cx="1797056" cy="1347792"/>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9087" y="3381890"/>
            <a:ext cx="1981199" cy="1030533"/>
          </a:xfrm>
          <a:prstGeom prst="rect">
            <a:avLst/>
          </a:prstGeom>
        </p:spPr>
      </p:pic>
      <p:sp>
        <p:nvSpPr>
          <p:cNvPr id="9" name="左大括号 8"/>
          <p:cNvSpPr/>
          <p:nvPr/>
        </p:nvSpPr>
        <p:spPr>
          <a:xfrm>
            <a:off x="1662112" y="2124074"/>
            <a:ext cx="45719" cy="3630339"/>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0" name="文本框 9"/>
          <p:cNvSpPr txBox="1"/>
          <p:nvPr/>
        </p:nvSpPr>
        <p:spPr>
          <a:xfrm>
            <a:off x="2837103" y="2532970"/>
            <a:ext cx="795338" cy="369332"/>
          </a:xfrm>
          <a:prstGeom prst="rect">
            <a:avLst/>
          </a:prstGeom>
          <a:noFill/>
        </p:spPr>
        <p:txBody>
          <a:bodyPr wrap="square" rtlCol="0">
            <a:spAutoFit/>
          </a:bodyPr>
          <a:lstStyle/>
          <a:p>
            <a:r>
              <a:rPr lang="en-US" altLang="zh-CN" dirty="0" err="1" smtClean="0">
                <a:latin typeface="Consolas" panose="020B0609020204030204" pitchFamily="49" charset="0"/>
              </a:rPr>
              <a:t>tanh</a:t>
            </a:r>
            <a:endParaRPr lang="zh-CN" altLang="en-US" dirty="0">
              <a:latin typeface="Consolas" panose="020B0609020204030204" pitchFamily="49" charset="0"/>
            </a:endParaRPr>
          </a:p>
        </p:txBody>
      </p:sp>
      <p:sp>
        <p:nvSpPr>
          <p:cNvPr id="11" name="文本框 10"/>
          <p:cNvSpPr txBox="1"/>
          <p:nvPr/>
        </p:nvSpPr>
        <p:spPr>
          <a:xfrm>
            <a:off x="2778368" y="4459843"/>
            <a:ext cx="771526" cy="369332"/>
          </a:xfrm>
          <a:prstGeom prst="rect">
            <a:avLst/>
          </a:prstGeom>
          <a:noFill/>
        </p:spPr>
        <p:txBody>
          <a:bodyPr wrap="square" rtlCol="0">
            <a:spAutoFit/>
          </a:bodyPr>
          <a:lstStyle/>
          <a:p>
            <a:r>
              <a:rPr lang="en-US" altLang="zh-CN" dirty="0" err="1" smtClean="0">
                <a:latin typeface="Consolas" panose="020B0609020204030204" pitchFamily="49" charset="0"/>
              </a:rPr>
              <a:t>ReLu</a:t>
            </a:r>
            <a:endParaRPr lang="zh-CN" altLang="en-US" dirty="0">
              <a:latin typeface="Consolas" panose="020B0609020204030204" pitchFamily="49" charset="0"/>
            </a:endParaRPr>
          </a:p>
        </p:txBody>
      </p: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57220" y="662781"/>
            <a:ext cx="2497164" cy="1872873"/>
          </a:xfrm>
          <a:prstGeom prst="rect">
            <a:avLst/>
          </a:prstGeom>
        </p:spPr>
      </p:pic>
      <p:pic>
        <p:nvPicPr>
          <p:cNvPr id="13" name="图片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00982" y="1258374"/>
            <a:ext cx="3338513" cy="1112838"/>
          </a:xfrm>
          <a:prstGeom prst="rect">
            <a:avLst/>
          </a:prstGeom>
        </p:spPr>
      </p:pic>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65603" y="3136301"/>
            <a:ext cx="1799984" cy="1349989"/>
          </a:xfrm>
          <a:prstGeom prst="rect">
            <a:avLst/>
          </a:prstGeom>
        </p:spPr>
      </p:pic>
      <p:pic>
        <p:nvPicPr>
          <p:cNvPr id="15" name="图片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00982" y="3215688"/>
            <a:ext cx="3407024" cy="1135675"/>
          </a:xfrm>
          <a:prstGeom prst="rect">
            <a:avLst/>
          </a:prstGeom>
        </p:spPr>
      </p:pic>
      <p:pic>
        <p:nvPicPr>
          <p:cNvPr id="16" name="图片 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07117" y="2686583"/>
            <a:ext cx="2597371" cy="1971149"/>
          </a:xfrm>
          <a:prstGeom prst="rect">
            <a:avLst/>
          </a:prstGeom>
        </p:spPr>
      </p:pic>
      <p:pic>
        <p:nvPicPr>
          <p:cNvPr id="2" name="图片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867170" y="4955299"/>
            <a:ext cx="3406136" cy="1135378"/>
          </a:xfrm>
          <a:prstGeom prst="rect">
            <a:avLst/>
          </a:prstGeom>
        </p:spPr>
      </p:pic>
      <p:pic>
        <p:nvPicPr>
          <p:cNvPr id="3" name="图片 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307118" y="4834520"/>
            <a:ext cx="2597371" cy="1948029"/>
          </a:xfrm>
          <a:prstGeom prst="rect">
            <a:avLst/>
          </a:prstGeom>
        </p:spPr>
      </p:pic>
      <p:pic>
        <p:nvPicPr>
          <p:cNvPr id="6" name="图片 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219404" y="4880468"/>
            <a:ext cx="1889454" cy="1417090"/>
          </a:xfrm>
          <a:prstGeom prst="rect">
            <a:avLst/>
          </a:prstGeom>
        </p:spPr>
      </p:pic>
      <p:sp>
        <p:nvSpPr>
          <p:cNvPr id="18" name="文本框 17"/>
          <p:cNvSpPr txBox="1"/>
          <p:nvPr/>
        </p:nvSpPr>
        <p:spPr>
          <a:xfrm>
            <a:off x="2778368" y="6272541"/>
            <a:ext cx="1122614" cy="369332"/>
          </a:xfrm>
          <a:prstGeom prst="rect">
            <a:avLst/>
          </a:prstGeom>
          <a:noFill/>
        </p:spPr>
        <p:txBody>
          <a:bodyPr wrap="square" rtlCol="0">
            <a:spAutoFit/>
          </a:bodyPr>
          <a:lstStyle/>
          <a:p>
            <a:r>
              <a:rPr lang="en-US" altLang="zh-CN" dirty="0" smtClean="0">
                <a:latin typeface="Consolas" panose="020B0609020204030204" pitchFamily="49" charset="0"/>
              </a:rPr>
              <a:t>sigmoid</a:t>
            </a:r>
            <a:endParaRPr lang="zh-CN" altLang="en-US" dirty="0">
              <a:latin typeface="Consolas" panose="020B0609020204030204" pitchFamily="49" charset="0"/>
            </a:endParaRPr>
          </a:p>
        </p:txBody>
      </p:sp>
    </p:spTree>
    <p:extLst>
      <p:ext uri="{BB962C8B-B14F-4D97-AF65-F5344CB8AC3E}">
        <p14:creationId xmlns:p14="http://schemas.microsoft.com/office/powerpoint/2010/main" val="35788146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70945" y="-46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微软雅黑" panose="020B0503020204020204" pitchFamily="34" charset="-122"/>
                <a:ea typeface="微软雅黑" panose="020B0503020204020204" pitchFamily="34" charset="-122"/>
              </a:rPr>
              <a:t>6.</a:t>
            </a:r>
            <a:r>
              <a:rPr lang="zh-CN" altLang="en-US" sz="3200" dirty="0">
                <a:latin typeface="微软雅黑" panose="020B0503020204020204" pitchFamily="34" charset="-122"/>
                <a:ea typeface="微软雅黑" panose="020B0503020204020204" pitchFamily="34" charset="-122"/>
              </a:rPr>
              <a:t>不同激活函数和卷积核大小的可视化效果</a:t>
            </a:r>
          </a:p>
          <a:p>
            <a:endParaRPr lang="zh-CN" altLang="en-US" sz="32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8019558" y="292984"/>
            <a:ext cx="2566987" cy="369332"/>
          </a:xfrm>
          <a:prstGeom prst="rect">
            <a:avLst/>
          </a:prstGeom>
          <a:noFill/>
        </p:spPr>
        <p:txBody>
          <a:bodyPr wrap="square" rtlCol="0">
            <a:spAutoFit/>
          </a:bodyPr>
          <a:lstStyle/>
          <a:p>
            <a:r>
              <a:rPr lang="en-US" altLang="zh-CN" dirty="0" smtClean="0"/>
              <a:t>2.</a:t>
            </a:r>
            <a:r>
              <a:rPr lang="zh-CN" altLang="en-US" dirty="0" smtClean="0"/>
              <a:t>不同的卷积核大小</a:t>
            </a:r>
            <a:endParaRPr lang="zh-CN" altLang="en-US" dirty="0"/>
          </a:p>
        </p:txBody>
      </p:sp>
      <p:sp>
        <p:nvSpPr>
          <p:cNvPr id="2" name="文本框 1"/>
          <p:cNvSpPr txBox="1"/>
          <p:nvPr/>
        </p:nvSpPr>
        <p:spPr>
          <a:xfrm>
            <a:off x="1067127" y="5371276"/>
            <a:ext cx="4419601" cy="338554"/>
          </a:xfrm>
          <a:prstGeom prst="rect">
            <a:avLst/>
          </a:prstGeom>
          <a:noFill/>
        </p:spPr>
        <p:txBody>
          <a:bodyPr wrap="square" rtlCol="0">
            <a:spAutoFit/>
          </a:bodyPr>
          <a:lstStyle/>
          <a:p>
            <a:r>
              <a:rPr lang="zh-CN" altLang="en-US" sz="1600" dirty="0" smtClean="0">
                <a:latin typeface="Consolas" panose="020B0609020204030204" pitchFamily="49" charset="0"/>
              </a:rPr>
              <a:t>大小为</a:t>
            </a:r>
            <a:r>
              <a:rPr lang="en-US" altLang="zh-CN" sz="1600" dirty="0" smtClean="0">
                <a:latin typeface="Consolas" panose="020B0609020204030204" pitchFamily="49" charset="0"/>
              </a:rPr>
              <a:t>(7,7)</a:t>
            </a:r>
            <a:r>
              <a:rPr lang="zh-CN" altLang="en-US" sz="1600" dirty="0" smtClean="0">
                <a:latin typeface="Consolas" panose="020B0609020204030204" pitchFamily="49" charset="0"/>
              </a:rPr>
              <a:t>的卷积核得到的结果</a:t>
            </a:r>
            <a:endParaRPr lang="zh-CN" altLang="en-US" sz="1600" dirty="0"/>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441" y="904316"/>
            <a:ext cx="4514193" cy="1504731"/>
          </a:xfrm>
          <a:prstGeom prst="rect">
            <a:avLst/>
          </a:prstGeom>
        </p:spPr>
      </p:pic>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013" y="2330219"/>
            <a:ext cx="3838241" cy="2878681"/>
          </a:xfrm>
          <a:prstGeom prst="rect">
            <a:avLst/>
          </a:prstGeom>
        </p:spPr>
      </p:pic>
      <p:sp>
        <p:nvSpPr>
          <p:cNvPr id="19" name="文本框 18"/>
          <p:cNvSpPr txBox="1"/>
          <p:nvPr/>
        </p:nvSpPr>
        <p:spPr>
          <a:xfrm>
            <a:off x="739013" y="5667143"/>
            <a:ext cx="4755603" cy="830997"/>
          </a:xfrm>
          <a:prstGeom prst="rect">
            <a:avLst/>
          </a:prstGeom>
          <a:noFill/>
        </p:spPr>
        <p:txBody>
          <a:bodyPr wrap="square" rtlCol="0">
            <a:spAutoFit/>
          </a:bodyPr>
          <a:lstStyle/>
          <a:p>
            <a:r>
              <a:rPr lang="zh-CN" altLang="en-US" sz="1600" dirty="0">
                <a:latin typeface="Consolas" panose="020B0609020204030204" pitchFamily="49" charset="0"/>
              </a:rPr>
              <a:t>卷积</a:t>
            </a:r>
            <a:r>
              <a:rPr lang="zh-CN" altLang="en-US" sz="1600" dirty="0" smtClean="0">
                <a:latin typeface="Consolas" panose="020B0609020204030204" pitchFamily="49" charset="0"/>
              </a:rPr>
              <a:t>核扩大后，部分卷积核显示出了新的信息：如卷积对方向</a:t>
            </a:r>
            <a:r>
              <a:rPr lang="en-US" altLang="zh-CN" sz="1600" dirty="0" smtClean="0">
                <a:latin typeface="Consolas" panose="020B0609020204030204" pitchFamily="49" charset="0"/>
              </a:rPr>
              <a:t>(</a:t>
            </a:r>
            <a:r>
              <a:rPr lang="zh-CN" altLang="en-US" sz="1600" dirty="0" smtClean="0">
                <a:latin typeface="Consolas" panose="020B0609020204030204" pitchFamily="49" charset="0"/>
              </a:rPr>
              <a:t>如第二个卷积核</a:t>
            </a:r>
            <a:r>
              <a:rPr lang="en-US" altLang="zh-CN" sz="1600" dirty="0" smtClean="0">
                <a:latin typeface="Consolas" panose="020B0609020204030204" pitchFamily="49" charset="0"/>
              </a:rPr>
              <a:t>)</a:t>
            </a:r>
            <a:r>
              <a:rPr lang="zh-CN" altLang="en-US" sz="1600" dirty="0" smtClean="0">
                <a:latin typeface="Consolas" panose="020B0609020204030204" pitchFamily="49" charset="0"/>
              </a:rPr>
              <a:t>，圈</a:t>
            </a:r>
            <a:r>
              <a:rPr lang="en-US" altLang="zh-CN" sz="1600" dirty="0" smtClean="0">
                <a:latin typeface="Consolas" panose="020B0609020204030204" pitchFamily="49" charset="0"/>
              </a:rPr>
              <a:t>(</a:t>
            </a:r>
            <a:r>
              <a:rPr lang="zh-CN" altLang="en-US" sz="1600" dirty="0" smtClean="0">
                <a:latin typeface="Consolas" panose="020B0609020204030204" pitchFamily="49" charset="0"/>
              </a:rPr>
              <a:t>如第四个卷积核</a:t>
            </a:r>
            <a:r>
              <a:rPr lang="en-US" altLang="zh-CN" sz="1600" dirty="0" smtClean="0">
                <a:latin typeface="Consolas" panose="020B0609020204030204" pitchFamily="49" charset="0"/>
              </a:rPr>
              <a:t>)</a:t>
            </a:r>
            <a:r>
              <a:rPr lang="zh-CN" altLang="en-US" sz="1600" dirty="0" smtClean="0">
                <a:latin typeface="Consolas" panose="020B0609020204030204" pitchFamily="49" charset="0"/>
              </a:rPr>
              <a:t>较为关注，这也能够在特征图中体现</a:t>
            </a:r>
            <a:endParaRPr lang="zh-CN" altLang="en-US" sz="1600" dirty="0">
              <a:latin typeface="Consolas" panose="020B0609020204030204" pitchFamily="49" charset="0"/>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35338" y="674073"/>
            <a:ext cx="4806841" cy="1602280"/>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9271" y="2222118"/>
            <a:ext cx="3982376" cy="2986782"/>
          </a:xfrm>
          <a:prstGeom prst="rect">
            <a:avLst/>
          </a:prstGeom>
        </p:spPr>
      </p:pic>
      <p:sp>
        <p:nvSpPr>
          <p:cNvPr id="11" name="文本框 10"/>
          <p:cNvSpPr txBox="1"/>
          <p:nvPr/>
        </p:nvSpPr>
        <p:spPr>
          <a:xfrm>
            <a:off x="6198803" y="5328589"/>
            <a:ext cx="4419601" cy="338554"/>
          </a:xfrm>
          <a:prstGeom prst="rect">
            <a:avLst/>
          </a:prstGeom>
          <a:noFill/>
        </p:spPr>
        <p:txBody>
          <a:bodyPr wrap="square" rtlCol="0">
            <a:spAutoFit/>
          </a:bodyPr>
          <a:lstStyle/>
          <a:p>
            <a:r>
              <a:rPr lang="zh-CN" altLang="en-US" sz="1600" dirty="0" smtClean="0">
                <a:latin typeface="Consolas" panose="020B0609020204030204" pitchFamily="49" charset="0"/>
              </a:rPr>
              <a:t>大小为</a:t>
            </a:r>
            <a:r>
              <a:rPr lang="en-US" altLang="zh-CN" sz="1600" dirty="0" smtClean="0">
                <a:latin typeface="Consolas" panose="020B0609020204030204" pitchFamily="49" charset="0"/>
              </a:rPr>
              <a:t>(3,3)</a:t>
            </a:r>
            <a:r>
              <a:rPr lang="zh-CN" altLang="en-US" sz="1600" dirty="0" smtClean="0">
                <a:latin typeface="Consolas" panose="020B0609020204030204" pitchFamily="49" charset="0"/>
              </a:rPr>
              <a:t>的卷积核得到的结果</a:t>
            </a:r>
            <a:endParaRPr lang="zh-CN" altLang="en-US" sz="1600" dirty="0"/>
          </a:p>
        </p:txBody>
      </p:sp>
      <p:sp>
        <p:nvSpPr>
          <p:cNvPr id="12" name="文本框 11"/>
          <p:cNvSpPr txBox="1"/>
          <p:nvPr/>
        </p:nvSpPr>
        <p:spPr>
          <a:xfrm>
            <a:off x="5862801" y="5667143"/>
            <a:ext cx="4755603" cy="584775"/>
          </a:xfrm>
          <a:prstGeom prst="rect">
            <a:avLst/>
          </a:prstGeom>
          <a:noFill/>
        </p:spPr>
        <p:txBody>
          <a:bodyPr wrap="square" rtlCol="0">
            <a:spAutoFit/>
          </a:bodyPr>
          <a:lstStyle/>
          <a:p>
            <a:r>
              <a:rPr lang="zh-CN" altLang="en-US" sz="1600" dirty="0">
                <a:latin typeface="Consolas" panose="020B0609020204030204" pitchFamily="49" charset="0"/>
              </a:rPr>
              <a:t>卷积</a:t>
            </a:r>
            <a:r>
              <a:rPr lang="zh-CN" altLang="en-US" sz="1600" dirty="0" smtClean="0">
                <a:latin typeface="Consolas" panose="020B0609020204030204" pitchFamily="49" charset="0"/>
              </a:rPr>
              <a:t>核缩小后，不同单位特征图之间的相似度明显提升</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42303903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6627" y="-61324"/>
            <a:ext cx="10515600" cy="1325563"/>
          </a:xfrm>
        </p:spPr>
        <p:txBody>
          <a:bodyPr>
            <a:normAutofit/>
          </a:bodyPr>
          <a:lstStyle/>
          <a:p>
            <a:r>
              <a:rPr lang="zh-CN" altLang="en-US" sz="4000" dirty="0" smtClean="0">
                <a:latin typeface="Consolas" panose="020B0609020204030204" pitchFamily="49" charset="0"/>
              </a:rPr>
              <a:t>总结</a:t>
            </a:r>
            <a:endParaRPr lang="zh-CN" altLang="en-US" sz="4000" dirty="0">
              <a:latin typeface="Consolas" panose="020B0609020204030204" pitchFamily="49" charset="0"/>
            </a:endParaRPr>
          </a:p>
        </p:txBody>
      </p:sp>
      <p:sp>
        <p:nvSpPr>
          <p:cNvPr id="4" name="文本框 3"/>
          <p:cNvSpPr txBox="1"/>
          <p:nvPr/>
        </p:nvSpPr>
        <p:spPr>
          <a:xfrm>
            <a:off x="666627" y="934133"/>
            <a:ext cx="9632731" cy="3170099"/>
          </a:xfrm>
          <a:prstGeom prst="rect">
            <a:avLst/>
          </a:prstGeom>
          <a:noFill/>
        </p:spPr>
        <p:txBody>
          <a:bodyPr wrap="square" rtlCol="0">
            <a:spAutoFit/>
          </a:bodyPr>
          <a:lstStyle/>
          <a:p>
            <a:r>
              <a:rPr lang="en-US" altLang="zh-CN" sz="2000" dirty="0" smtClean="0">
                <a:latin typeface="Consolas" panose="020B0609020204030204" pitchFamily="49" charset="0"/>
              </a:rPr>
              <a:t>·  </a:t>
            </a:r>
            <a:r>
              <a:rPr lang="zh-CN" altLang="en-US" sz="2000" dirty="0" smtClean="0">
                <a:latin typeface="Consolas" panose="020B0609020204030204" pitchFamily="49" charset="0"/>
              </a:rPr>
              <a:t>利用</a:t>
            </a:r>
            <a:r>
              <a:rPr lang="en-US" altLang="zh-CN" sz="2000" dirty="0" err="1" smtClean="0">
                <a:latin typeface="Consolas" panose="020B0609020204030204" pitchFamily="49" charset="0"/>
              </a:rPr>
              <a:t>LeNet</a:t>
            </a:r>
            <a:r>
              <a:rPr lang="zh-CN" altLang="en-US" sz="2000" dirty="0" smtClean="0">
                <a:latin typeface="Consolas" panose="020B0609020204030204" pitchFamily="49" charset="0"/>
              </a:rPr>
              <a:t>较好地实现了手写数字的分类任务</a:t>
            </a:r>
            <a:endParaRPr lang="en-US" altLang="zh-CN" sz="2000" dirty="0" smtClean="0">
              <a:latin typeface="Consolas" panose="020B0609020204030204" pitchFamily="49" charset="0"/>
            </a:endParaRPr>
          </a:p>
          <a:p>
            <a:endParaRPr lang="en-US" altLang="zh-CN" sz="2000" dirty="0" smtClean="0">
              <a:latin typeface="Consolas" panose="020B0609020204030204" pitchFamily="49" charset="0"/>
            </a:endParaRPr>
          </a:p>
          <a:p>
            <a:endParaRPr lang="en-US" altLang="zh-CN" sz="2000" dirty="0" smtClean="0">
              <a:latin typeface="Consolas" panose="020B0609020204030204" pitchFamily="49" charset="0"/>
            </a:endParaRPr>
          </a:p>
          <a:p>
            <a:r>
              <a:rPr lang="en-US" altLang="zh-CN" sz="2000" dirty="0" smtClean="0">
                <a:latin typeface="Consolas" panose="020B0609020204030204" pitchFamily="49" charset="0"/>
              </a:rPr>
              <a:t>·  </a:t>
            </a:r>
            <a:r>
              <a:rPr lang="zh-CN" altLang="en-US" sz="2000" dirty="0" smtClean="0">
                <a:latin typeface="Consolas" panose="020B0609020204030204" pitchFamily="49" charset="0"/>
              </a:rPr>
              <a:t>对模型架构、滤波器以及特征图进行了可视化并对其可视化效果作出了解释，并比较了不同的激活函数与卷积核大小的可视化结果</a:t>
            </a:r>
            <a:endParaRPr lang="en-US" altLang="zh-CN" sz="2000" dirty="0" smtClean="0">
              <a:latin typeface="Consolas" panose="020B0609020204030204" pitchFamily="49" charset="0"/>
            </a:endParaRPr>
          </a:p>
          <a:p>
            <a:endParaRPr lang="en-US" altLang="zh-CN" sz="2000" dirty="0" smtClean="0">
              <a:latin typeface="Consolas" panose="020B0609020204030204" pitchFamily="49" charset="0"/>
            </a:endParaRPr>
          </a:p>
          <a:p>
            <a:endParaRPr lang="en-US" altLang="zh-CN" sz="2000" dirty="0" smtClean="0">
              <a:latin typeface="Consolas" panose="020B0609020204030204" pitchFamily="49" charset="0"/>
            </a:endParaRPr>
          </a:p>
          <a:p>
            <a:r>
              <a:rPr lang="en-US" altLang="zh-CN" sz="2000" dirty="0" smtClean="0">
                <a:latin typeface="Consolas" panose="020B0609020204030204" pitchFamily="49" charset="0"/>
              </a:rPr>
              <a:t>·  </a:t>
            </a:r>
            <a:r>
              <a:rPr lang="zh-CN" altLang="en-US" sz="2000" dirty="0" smtClean="0">
                <a:latin typeface="Consolas" panose="020B0609020204030204" pitchFamily="49" charset="0"/>
              </a:rPr>
              <a:t>由于</a:t>
            </a:r>
            <a:r>
              <a:rPr lang="en-US" altLang="zh-CN" sz="2000" dirty="0" smtClean="0">
                <a:latin typeface="Consolas" panose="020B0609020204030204" pitchFamily="49" charset="0"/>
              </a:rPr>
              <a:t>MNIST</a:t>
            </a:r>
            <a:r>
              <a:rPr lang="zh-CN" altLang="en-US" sz="2000" dirty="0" smtClean="0">
                <a:latin typeface="Consolas" panose="020B0609020204030204" pitchFamily="49" charset="0"/>
              </a:rPr>
              <a:t>数据集的图像较小且为灰度图像，滤波器的可视化结果并没有很好的反映具体提取了图像的哪些方向与颜色特征</a:t>
            </a:r>
            <a:r>
              <a:rPr lang="en-US" altLang="zh-CN" sz="2000" dirty="0" smtClean="0">
                <a:latin typeface="Consolas" panose="020B0609020204030204" pitchFamily="49" charset="0"/>
              </a:rPr>
              <a:t>, </a:t>
            </a:r>
            <a:r>
              <a:rPr lang="zh-CN" altLang="en-US" sz="2000" dirty="0" smtClean="0">
                <a:latin typeface="Consolas" panose="020B0609020204030204" pitchFamily="49" charset="0"/>
              </a:rPr>
              <a:t>没有对高层的卷积核及特征图作出较为合理的分析</a:t>
            </a:r>
            <a:endParaRPr lang="en-US" altLang="zh-CN" sz="2000" dirty="0">
              <a:latin typeface="Consolas" panose="020B0609020204030204" pitchFamily="49" charset="0"/>
            </a:endParaRPr>
          </a:p>
        </p:txBody>
      </p:sp>
      <p:sp>
        <p:nvSpPr>
          <p:cNvPr id="5" name="文本框 4"/>
          <p:cNvSpPr txBox="1"/>
          <p:nvPr/>
        </p:nvSpPr>
        <p:spPr>
          <a:xfrm>
            <a:off x="188779" y="4328405"/>
            <a:ext cx="11928496" cy="2616101"/>
          </a:xfrm>
          <a:prstGeom prst="rect">
            <a:avLst/>
          </a:prstGeom>
          <a:noFill/>
        </p:spPr>
        <p:txBody>
          <a:bodyPr wrap="square" rtlCol="0">
            <a:spAutoFit/>
          </a:bodyPr>
          <a:lstStyle/>
          <a:p>
            <a:r>
              <a:rPr lang="zh-CN" altLang="en-US" sz="2000" dirty="0">
                <a:latin typeface="Consolas" panose="020B0609020204030204" pitchFamily="49" charset="0"/>
              </a:rPr>
              <a:t>参考资料</a:t>
            </a:r>
            <a:r>
              <a:rPr lang="zh-CN" altLang="en-US" dirty="0" smtClean="0"/>
              <a:t>：</a:t>
            </a:r>
            <a:endParaRPr lang="en-US" altLang="zh-CN" dirty="0" smtClean="0"/>
          </a:p>
          <a:p>
            <a:endParaRPr lang="en-US" altLang="zh-CN" dirty="0" smtClean="0"/>
          </a:p>
          <a:p>
            <a:r>
              <a:rPr lang="en-US" altLang="zh-CN" dirty="0">
                <a:hlinkClick r:id="rId2"/>
              </a:rPr>
              <a:t>https://machinelearningmastery.com/how-to-visualize-filters-and-feature-maps-in-convolutional-neural-networks</a:t>
            </a:r>
            <a:r>
              <a:rPr lang="en-US" altLang="zh-CN" dirty="0" smtClean="0">
                <a:hlinkClick r:id="rId2"/>
              </a:rPr>
              <a:t>/</a:t>
            </a:r>
            <a:endParaRPr lang="en-US" altLang="zh-CN" dirty="0" smtClean="0"/>
          </a:p>
          <a:p>
            <a:endParaRPr lang="en-US" altLang="zh-CN" dirty="0"/>
          </a:p>
          <a:p>
            <a:r>
              <a:rPr lang="en-US" altLang="zh-CN" dirty="0">
                <a:hlinkClick r:id="rId3"/>
              </a:rPr>
              <a:t>Lecture 12 | Visualizing and Understanding, CS231n: Convolutional Neural Networks for Visual </a:t>
            </a:r>
            <a:r>
              <a:rPr lang="en-US" altLang="zh-CN" dirty="0" smtClean="0">
                <a:hlinkClick r:id="rId3"/>
              </a:rPr>
              <a:t>Recognition</a:t>
            </a:r>
            <a:endParaRPr lang="en-US" altLang="zh-CN" dirty="0"/>
          </a:p>
          <a:p>
            <a:endParaRPr lang="en-US" altLang="zh-CN" dirty="0" smtClean="0"/>
          </a:p>
          <a:p>
            <a:r>
              <a:rPr lang="en-US" altLang="zh-CN" dirty="0"/>
              <a:t>Visualizing and Understanding Convolutional Networks - Matthew D. </a:t>
            </a:r>
            <a:r>
              <a:rPr lang="en-US" altLang="zh-CN" dirty="0" err="1"/>
              <a:t>Zeiler</a:t>
            </a:r>
            <a:r>
              <a:rPr lang="en-US" altLang="zh-CN" dirty="0"/>
              <a:t> and Rob Fergus</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5693314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1360</TotalTime>
  <Words>653</Words>
  <Application>Microsoft Office PowerPoint</Application>
  <PresentationFormat>宽屏</PresentationFormat>
  <Paragraphs>80</Paragraphs>
  <Slides>12</Slides>
  <Notes>0</Notes>
  <HiddenSlides>0</HiddenSlides>
  <MMClips>1</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等线</vt:lpstr>
      <vt:lpstr>等线 Light</vt:lpstr>
      <vt:lpstr>微软雅黑</vt:lpstr>
      <vt:lpstr>Adobe Pi Std</vt:lpstr>
      <vt:lpstr>Arial</vt:lpstr>
      <vt:lpstr>Consolas</vt:lpstr>
      <vt:lpstr>Times New Roman</vt:lpstr>
      <vt:lpstr>Wingdings</vt:lpstr>
      <vt:lpstr>Office 主题​​</vt:lpstr>
      <vt:lpstr>LeNet-手写数字识别可视化</vt:lpstr>
      <vt:lpstr>-CONTENTS</vt:lpstr>
      <vt:lpstr>1.MNIST数据集简介</vt:lpstr>
      <vt:lpstr>2.LeNet对手写数字的识别结果</vt:lpstr>
      <vt:lpstr>3.LeNet模型架构可视化</vt:lpstr>
      <vt:lpstr>4.对LeNet中的滤波器进行可视化</vt:lpstr>
      <vt:lpstr>4.对LeNet中的滤波器进行可视化</vt:lpstr>
      <vt:lpstr>5.对LeNet中的特征图进行可视化</vt:lpstr>
      <vt:lpstr>PowerPoint 演示文稿</vt:lpstr>
      <vt:lpstr>PowerPoint 演示文稿</vt:lpstr>
      <vt:lpstr>PowerPoint 演示文稿</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Lenet-手写数字识别可视化</dc:title>
  <dc:creator>de</dc:creator>
  <cp:lastModifiedBy>de</cp:lastModifiedBy>
  <cp:revision>46</cp:revision>
  <dcterms:created xsi:type="dcterms:W3CDTF">2024-05-04T05:04:42Z</dcterms:created>
  <dcterms:modified xsi:type="dcterms:W3CDTF">2024-05-07T06:58:55Z</dcterms:modified>
</cp:coreProperties>
</file>